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w="12700">
            <a:solidFill>
              <a:srgbClr val="3B82F6"/>
            </a:solidFill>
            <a:prstDash val="solid"/>
          </a:ln>
        </p:spPr>
      </p:sp>
      <p:sp>
        <p:nvSpPr>
          <p:cNvPr id="3" name="Shape 1"/>
          <p:cNvSpPr/>
          <p:nvPr/>
        </p:nvSpPr>
        <p:spPr>
          <a:xfrm>
            <a:off x="0" y="5088636"/>
            <a:ext cx="9144000" cy="54864"/>
          </a:xfrm>
          <a:prstGeom prst="rect">
            <a:avLst/>
          </a:prstGeom>
          <a:solidFill>
            <a:srgbClr val="3B82F6"/>
          </a:solidFill>
          <a:ln w="12700">
            <a:solidFill>
              <a:srgbClr val="3B82F6"/>
            </a:solidFill>
            <a:prstDash val="solid"/>
          </a:ln>
        </p:spPr>
      </p:sp>
      <p:sp>
        <p:nvSpPr>
          <p:cNvPr id="4" name="Text 2"/>
          <p:cNvSpPr/>
          <p:nvPr/>
        </p:nvSpPr>
        <p:spPr>
          <a:xfrm>
            <a:off x="548640" y="1280160"/>
            <a:ext cx="8046720" cy="91440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jTrader Strategy Rules</a:t>
            </a:r>
            <a:endParaRPr lang="en-US" sz="4400" dirty="0"/>
          </a:p>
        </p:txBody>
      </p:sp>
      <p:sp>
        <p:nvSpPr>
          <p:cNvPr id="5" name="Text 3"/>
          <p:cNvSpPr/>
          <p:nvPr/>
        </p:nvSpPr>
        <p:spPr>
          <a:xfrm>
            <a:off x="548640" y="2286000"/>
            <a:ext cx="8046720" cy="457200"/>
          </a:xfrm>
          <a:prstGeom prst="rect">
            <a:avLst/>
          </a:prstGeom>
          <a:noFill/>
          <a:ln/>
        </p:spPr>
        <p:txBody>
          <a:bodyPr wrap="square" rtlCol="0" anchor="ctr"/>
          <a:lstStyle/>
          <a:p>
            <a:pPr algn="ctr" indent="0" marL="0">
              <a:buNone/>
            </a:pPr>
            <a:r>
              <a:rPr lang="en-US" sz="1800" dirty="0">
                <a:solidFill>
                  <a:srgbClr val="94A3B8"/>
                </a:solidFill>
                <a:latin typeface="Calibri" pitchFamily="34" charset="0"/>
                <a:ea typeface="Calibri" pitchFamily="34" charset="-122"/>
                <a:cs typeface="Calibri" pitchFamily="34" charset="-120"/>
              </a:rPr>
              <a:t>20-Video Pilot Analysis · Sorted by Confidence</a:t>
            </a:r>
            <a:endParaRPr lang="en-US" sz="1800" dirty="0"/>
          </a:p>
        </p:txBody>
      </p:sp>
      <p:sp>
        <p:nvSpPr>
          <p:cNvPr id="6" name="Text 4"/>
          <p:cNvSpPr/>
          <p:nvPr/>
        </p:nvSpPr>
        <p:spPr>
          <a:xfrm>
            <a:off x="548640" y="2926080"/>
            <a:ext cx="8046720" cy="365760"/>
          </a:xfrm>
          <a:prstGeom prst="rect">
            <a:avLst/>
          </a:prstGeom>
          <a:noFill/>
          <a:ln/>
        </p:spPr>
        <p:txBody>
          <a:bodyPr wrap="square"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35 Rules  ·  6 Categories  ·  SCRN / ENTR / STOP / PROF / MKTCOND / TIMING</a:t>
            </a:r>
            <a:endParaRPr lang="en-US" sz="1300" dirty="0"/>
          </a:p>
        </p:txBody>
      </p:sp>
      <p:sp>
        <p:nvSpPr>
          <p:cNvPr id="7" name="Shape 5"/>
          <p:cNvSpPr/>
          <p:nvPr/>
        </p:nvSpPr>
        <p:spPr>
          <a:xfrm>
            <a:off x="914400" y="3749040"/>
            <a:ext cx="109728" cy="256032"/>
          </a:xfrm>
          <a:prstGeom prst="rect">
            <a:avLst/>
          </a:prstGeom>
          <a:solidFill>
            <a:srgbClr val="10B981"/>
          </a:solidFill>
          <a:ln w="12700">
            <a:solidFill>
              <a:srgbClr val="10B981"/>
            </a:solidFill>
            <a:prstDash val="solid"/>
          </a:ln>
        </p:spPr>
      </p:sp>
      <p:sp>
        <p:nvSpPr>
          <p:cNvPr id="8" name="Text 6"/>
          <p:cNvSpPr/>
          <p:nvPr/>
        </p:nvSpPr>
        <p:spPr>
          <a:xfrm>
            <a:off x="1069848" y="3749040"/>
            <a:ext cx="1097280" cy="256032"/>
          </a:xfrm>
          <a:prstGeom prst="rect">
            <a:avLst/>
          </a:prstGeom>
          <a:noFill/>
          <a:ln/>
        </p:spPr>
        <p:txBody>
          <a:bodyPr wrap="square" lIns="0" tIns="0" rIns="0" bIns="0" rtlCol="0" anchor="ctr"/>
          <a:lstStyle/>
          <a:p>
            <a:pPr indent="0" marL="0">
              <a:buNone/>
            </a:pPr>
            <a:r>
              <a:rPr lang="en-US" sz="900" dirty="0">
                <a:solidFill>
                  <a:srgbClr val="94A3B8"/>
                </a:solidFill>
              </a:rPr>
              <a:t>PRE-SCREEN</a:t>
            </a:r>
            <a:endParaRPr lang="en-US" sz="900" dirty="0"/>
          </a:p>
        </p:txBody>
      </p:sp>
      <p:sp>
        <p:nvSpPr>
          <p:cNvPr id="9" name="Shape 7"/>
          <p:cNvSpPr/>
          <p:nvPr/>
        </p:nvSpPr>
        <p:spPr>
          <a:xfrm>
            <a:off x="2194560" y="3749040"/>
            <a:ext cx="109728" cy="256032"/>
          </a:xfrm>
          <a:prstGeom prst="rect">
            <a:avLst/>
          </a:prstGeom>
          <a:solidFill>
            <a:srgbClr val="3B82F6"/>
          </a:solidFill>
          <a:ln w="12700">
            <a:solidFill>
              <a:srgbClr val="3B82F6"/>
            </a:solidFill>
            <a:prstDash val="solid"/>
          </a:ln>
        </p:spPr>
      </p:sp>
      <p:sp>
        <p:nvSpPr>
          <p:cNvPr id="10" name="Text 8"/>
          <p:cNvSpPr/>
          <p:nvPr/>
        </p:nvSpPr>
        <p:spPr>
          <a:xfrm>
            <a:off x="2350008" y="3749040"/>
            <a:ext cx="1097280" cy="256032"/>
          </a:xfrm>
          <a:prstGeom prst="rect">
            <a:avLst/>
          </a:prstGeom>
          <a:noFill/>
          <a:ln/>
        </p:spPr>
        <p:txBody>
          <a:bodyPr wrap="square" lIns="0" tIns="0" rIns="0" bIns="0" rtlCol="0" anchor="ctr"/>
          <a:lstStyle/>
          <a:p>
            <a:pPr indent="0" marL="0">
              <a:buNone/>
            </a:pPr>
            <a:r>
              <a:rPr lang="en-US" sz="900" dirty="0">
                <a:solidFill>
                  <a:srgbClr val="94A3B8"/>
                </a:solidFill>
              </a:rPr>
              <a:t>ENTRY</a:t>
            </a:r>
            <a:endParaRPr lang="en-US" sz="900" dirty="0"/>
          </a:p>
        </p:txBody>
      </p:sp>
      <p:sp>
        <p:nvSpPr>
          <p:cNvPr id="11" name="Shape 9"/>
          <p:cNvSpPr/>
          <p:nvPr/>
        </p:nvSpPr>
        <p:spPr>
          <a:xfrm>
            <a:off x="3474720" y="3749040"/>
            <a:ext cx="109728" cy="256032"/>
          </a:xfrm>
          <a:prstGeom prst="rect">
            <a:avLst/>
          </a:prstGeom>
          <a:solidFill>
            <a:srgbClr val="EF4444"/>
          </a:solidFill>
          <a:ln w="12700">
            <a:solidFill>
              <a:srgbClr val="EF4444"/>
            </a:solidFill>
            <a:prstDash val="solid"/>
          </a:ln>
        </p:spPr>
      </p:sp>
      <p:sp>
        <p:nvSpPr>
          <p:cNvPr id="12" name="Text 10"/>
          <p:cNvSpPr/>
          <p:nvPr/>
        </p:nvSpPr>
        <p:spPr>
          <a:xfrm>
            <a:off x="3630168" y="3749040"/>
            <a:ext cx="1097280" cy="256032"/>
          </a:xfrm>
          <a:prstGeom prst="rect">
            <a:avLst/>
          </a:prstGeom>
          <a:noFill/>
          <a:ln/>
        </p:spPr>
        <p:txBody>
          <a:bodyPr wrap="square" lIns="0" tIns="0" rIns="0" bIns="0" rtlCol="0" anchor="ctr"/>
          <a:lstStyle/>
          <a:p>
            <a:pPr indent="0" marL="0">
              <a:buNone/>
            </a:pPr>
            <a:r>
              <a:rPr lang="en-US" sz="900" dirty="0">
                <a:solidFill>
                  <a:srgbClr val="94A3B8"/>
                </a:solidFill>
              </a:rPr>
              <a:t>STOP-LOSS</a:t>
            </a:r>
            <a:endParaRPr lang="en-US" sz="900" dirty="0"/>
          </a:p>
        </p:txBody>
      </p:sp>
      <p:sp>
        <p:nvSpPr>
          <p:cNvPr id="13" name="Shape 11"/>
          <p:cNvSpPr/>
          <p:nvPr/>
        </p:nvSpPr>
        <p:spPr>
          <a:xfrm>
            <a:off x="4754880" y="3749040"/>
            <a:ext cx="109728" cy="256032"/>
          </a:xfrm>
          <a:prstGeom prst="rect">
            <a:avLst/>
          </a:prstGeom>
          <a:solidFill>
            <a:srgbClr val="F59E0B"/>
          </a:solidFill>
          <a:ln w="12700">
            <a:solidFill>
              <a:srgbClr val="F59E0B"/>
            </a:solidFill>
            <a:prstDash val="solid"/>
          </a:ln>
        </p:spPr>
      </p:sp>
      <p:sp>
        <p:nvSpPr>
          <p:cNvPr id="14" name="Text 12"/>
          <p:cNvSpPr/>
          <p:nvPr/>
        </p:nvSpPr>
        <p:spPr>
          <a:xfrm>
            <a:off x="4910328" y="3749040"/>
            <a:ext cx="1097280" cy="256032"/>
          </a:xfrm>
          <a:prstGeom prst="rect">
            <a:avLst/>
          </a:prstGeom>
          <a:noFill/>
          <a:ln/>
        </p:spPr>
        <p:txBody>
          <a:bodyPr wrap="square" lIns="0" tIns="0" rIns="0" bIns="0" rtlCol="0" anchor="ctr"/>
          <a:lstStyle/>
          <a:p>
            <a:pPr indent="0" marL="0">
              <a:buNone/>
            </a:pPr>
            <a:r>
              <a:rPr lang="en-US" sz="900" dirty="0">
                <a:solidFill>
                  <a:srgbClr val="94A3B8"/>
                </a:solidFill>
              </a:rPr>
              <a:t>PROFIT</a:t>
            </a:r>
            <a:endParaRPr lang="en-US" sz="900" dirty="0"/>
          </a:p>
        </p:txBody>
      </p:sp>
      <p:sp>
        <p:nvSpPr>
          <p:cNvPr id="15" name="Shape 13"/>
          <p:cNvSpPr/>
          <p:nvPr/>
        </p:nvSpPr>
        <p:spPr>
          <a:xfrm>
            <a:off x="6035040" y="3749040"/>
            <a:ext cx="109728" cy="256032"/>
          </a:xfrm>
          <a:prstGeom prst="rect">
            <a:avLst/>
          </a:prstGeom>
          <a:solidFill>
            <a:srgbClr val="A855F7"/>
          </a:solidFill>
          <a:ln w="12700">
            <a:solidFill>
              <a:srgbClr val="A855F7"/>
            </a:solidFill>
            <a:prstDash val="solid"/>
          </a:ln>
        </p:spPr>
      </p:sp>
      <p:sp>
        <p:nvSpPr>
          <p:cNvPr id="16" name="Text 14"/>
          <p:cNvSpPr/>
          <p:nvPr/>
        </p:nvSpPr>
        <p:spPr>
          <a:xfrm>
            <a:off x="6190488" y="3749040"/>
            <a:ext cx="1097280" cy="256032"/>
          </a:xfrm>
          <a:prstGeom prst="rect">
            <a:avLst/>
          </a:prstGeom>
          <a:noFill/>
          <a:ln/>
        </p:spPr>
        <p:txBody>
          <a:bodyPr wrap="square" lIns="0" tIns="0" rIns="0" bIns="0" rtlCol="0" anchor="ctr"/>
          <a:lstStyle/>
          <a:p>
            <a:pPr indent="0" marL="0">
              <a:buNone/>
            </a:pPr>
            <a:r>
              <a:rPr lang="en-US" sz="900" dirty="0">
                <a:solidFill>
                  <a:srgbClr val="94A3B8"/>
                </a:solidFill>
              </a:rPr>
              <a:t>MKT CONDITIONS</a:t>
            </a:r>
            <a:endParaRPr lang="en-US" sz="900" dirty="0"/>
          </a:p>
        </p:txBody>
      </p:sp>
      <p:sp>
        <p:nvSpPr>
          <p:cNvPr id="17" name="Shape 15"/>
          <p:cNvSpPr/>
          <p:nvPr/>
        </p:nvSpPr>
        <p:spPr>
          <a:xfrm>
            <a:off x="7315200" y="3749040"/>
            <a:ext cx="109728" cy="256032"/>
          </a:xfrm>
          <a:prstGeom prst="rect">
            <a:avLst/>
          </a:prstGeom>
          <a:solidFill>
            <a:srgbClr val="14B8A6"/>
          </a:solidFill>
          <a:ln w="12700">
            <a:solidFill>
              <a:srgbClr val="14B8A6"/>
            </a:solidFill>
            <a:prstDash val="solid"/>
          </a:ln>
        </p:spPr>
      </p:sp>
      <p:sp>
        <p:nvSpPr>
          <p:cNvPr id="18" name="Text 16"/>
          <p:cNvSpPr/>
          <p:nvPr/>
        </p:nvSpPr>
        <p:spPr>
          <a:xfrm>
            <a:off x="7470648" y="3749040"/>
            <a:ext cx="1097280" cy="256032"/>
          </a:xfrm>
          <a:prstGeom prst="rect">
            <a:avLst/>
          </a:prstGeom>
          <a:noFill/>
          <a:ln/>
        </p:spPr>
        <p:txBody>
          <a:bodyPr wrap="square" lIns="0" tIns="0" rIns="0" bIns="0" rtlCol="0" anchor="ctr"/>
          <a:lstStyle/>
          <a:p>
            <a:pPr indent="0" marL="0">
              <a:buNone/>
            </a:pPr>
            <a:r>
              <a:rPr lang="en-US" sz="900" dirty="0">
                <a:solidFill>
                  <a:srgbClr val="94A3B8"/>
                </a:solidFill>
              </a:rPr>
              <a:t>TIMING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E38"/>
        </a:solidFill>
      </p:bgPr>
    </p:bg>
    <p:spTree>
      <p:nvGrpSpPr>
        <p:cNvPr id="1" name=""/>
        <p:cNvGrpSpPr/>
        <p:nvPr/>
      </p:nvGrpSpPr>
      <p:grpSpPr>
        <a:xfrm>
          <a:off x="0" y="0"/>
          <a:ext cx="0" cy="0"/>
          <a:chOff x="0" y="0"/>
          <a:chExt cx="0" cy="0"/>
        </a:xfrm>
      </p:grpSpPr>
      <p:sp>
        <p:nvSpPr>
          <p:cNvPr id="2" name="Text 0"/>
          <p:cNvSpPr/>
          <p:nvPr/>
        </p:nvSpPr>
        <p:spPr>
          <a:xfrm>
            <a:off x="0" y="365760"/>
            <a:ext cx="9144000" cy="3200400"/>
          </a:xfrm>
          <a:prstGeom prst="rect">
            <a:avLst/>
          </a:prstGeom>
          <a:noFill/>
          <a:ln/>
        </p:spPr>
        <p:txBody>
          <a:bodyPr wrap="square" rtlCol="0" anchor="ctr"/>
          <a:lstStyle/>
          <a:p>
            <a:pPr algn="ctr" indent="0" marL="0">
              <a:buNone/>
            </a:pPr>
            <a:r>
              <a:rPr lang="en-US" sz="22000" b="1" dirty="0">
                <a:solidFill>
                  <a:srgbClr val="10B981">
                    <a:alpha val="15000"/>
                  </a:srgbClr>
                </a:solidFill>
                <a:latin typeface="Calibri" pitchFamily="34" charset="0"/>
                <a:ea typeface="Calibri" pitchFamily="34" charset="-122"/>
                <a:cs typeface="Calibri" pitchFamily="34" charset="-120"/>
              </a:rPr>
              <a:t>5</a:t>
            </a:r>
            <a:endParaRPr lang="en-US" sz="22000" dirty="0"/>
          </a:p>
        </p:txBody>
      </p:sp>
      <p:sp>
        <p:nvSpPr>
          <p:cNvPr id="3" name="Text 1"/>
          <p:cNvSpPr/>
          <p:nvPr/>
        </p:nvSpPr>
        <p:spPr>
          <a:xfrm>
            <a:off x="548640" y="1463040"/>
            <a:ext cx="8046720" cy="731520"/>
          </a:xfrm>
          <a:prstGeom prst="rect">
            <a:avLst/>
          </a:prstGeom>
          <a:noFill/>
          <a:ln/>
        </p:spPr>
        <p:txBody>
          <a:bodyPr wrap="square" rtlCol="0" anchor="ctr"/>
          <a:lstStyle/>
          <a:p>
            <a:pPr algn="ctr" indent="0" marL="0">
              <a:buNone/>
            </a:pPr>
            <a:r>
              <a:rPr lang="en-US" sz="3600" b="1" spc="800" kern="0" dirty="0">
                <a:solidFill>
                  <a:srgbClr val="10B981"/>
                </a:solidFill>
                <a:latin typeface="Calibri" pitchFamily="34" charset="0"/>
                <a:ea typeface="Calibri" pitchFamily="34" charset="-122"/>
                <a:cs typeface="Calibri" pitchFamily="34" charset="-120"/>
              </a:rPr>
              <a:t>CONFIDENCE 5</a:t>
            </a:r>
            <a:endParaRPr lang="en-US" sz="3600" dirty="0"/>
          </a:p>
        </p:txBody>
      </p:sp>
      <p:sp>
        <p:nvSpPr>
          <p:cNvPr id="4" name="Text 2"/>
          <p:cNvSpPr/>
          <p:nvPr/>
        </p:nvSpPr>
        <p:spPr>
          <a:xfrm>
            <a:off x="1371600" y="2377440"/>
            <a:ext cx="6400800" cy="548640"/>
          </a:xfrm>
          <a:prstGeom prst="rect">
            <a:avLst/>
          </a:prstGeom>
          <a:noFill/>
          <a:ln/>
        </p:spPr>
        <p:txBody>
          <a:bodyPr wrap="square"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CONFIDENCE 5  —  Stated explicitly, multiple times, direct quote. Treat as confirmed.</a:t>
            </a:r>
            <a:endParaRPr lang="en-US" sz="1300" dirty="0"/>
          </a:p>
        </p:txBody>
      </p:sp>
      <p:sp>
        <p:nvSpPr>
          <p:cNvPr id="5" name="Text 3"/>
          <p:cNvSpPr/>
          <p:nvPr/>
        </p:nvSpPr>
        <p:spPr>
          <a:xfrm>
            <a:off x="1371600" y="3200400"/>
            <a:ext cx="6400800" cy="365760"/>
          </a:xfrm>
          <a:prstGeom prst="rect">
            <a:avLst/>
          </a:prstGeom>
          <a:noFill/>
          <a:ln/>
        </p:spPr>
        <p:txBody>
          <a:bodyPr wrap="square"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27 rules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0B981"/>
          </a:solidFill>
          <a:ln w="12700">
            <a:solidFill>
              <a:srgbClr val="10B981"/>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SCRN-001</a:t>
            </a:r>
            <a:endParaRPr lang="en-US" sz="1000" dirty="0"/>
          </a:p>
        </p:txBody>
      </p:sp>
      <p:sp>
        <p:nvSpPr>
          <p:cNvPr id="4" name="Shape 2"/>
          <p:cNvSpPr/>
          <p:nvPr/>
        </p:nvSpPr>
        <p:spPr>
          <a:xfrm>
            <a:off x="256032" y="475488"/>
            <a:ext cx="1417320" cy="256032"/>
          </a:xfrm>
          <a:prstGeom prst="roundRect">
            <a:avLst>
              <a:gd name="adj" fmla="val 17857"/>
            </a:avLst>
          </a:prstGeom>
          <a:solidFill>
            <a:srgbClr val="10B981">
              <a:alpha val="20000"/>
            </a:srgbClr>
          </a:solidFill>
          <a:ln w="19050">
            <a:solidFill>
              <a:srgbClr val="10B981"/>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0B981"/>
                </a:solidFill>
              </a:rPr>
              <a:t>PRE-SCREEN</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News Catalyst Required</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A fresh fundamental catalyst is required — earnings, FDA, reverse split, IPO, breaking news. Without it, the stock is B-quality at best and often skipped entirely.</a:t>
            </a:r>
            <a:endParaRPr lang="en-US" sz="1350" dirty="0"/>
          </a:p>
        </p:txBody>
      </p:sp>
      <p:sp>
        <p:nvSpPr>
          <p:cNvPr id="16" name="Shape 14"/>
          <p:cNvSpPr/>
          <p:nvPr/>
        </p:nvSpPr>
        <p:spPr>
          <a:xfrm>
            <a:off x="256032" y="2743200"/>
            <a:ext cx="45720" cy="777240"/>
          </a:xfrm>
          <a:prstGeom prst="rect">
            <a:avLst/>
          </a:prstGeom>
          <a:solidFill>
            <a:srgbClr val="10B981"/>
          </a:solidFill>
          <a:ln w="12700">
            <a:solidFill>
              <a:srgbClr val="10B981"/>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"If I don't like the catalyst, then I'm not going to proceed to step three."</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Continuation setups (day 2+) are B-quality even without fresh daily news. Chinese stocks with no news are wildcards, not hard vetoes.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0B981"/>
          </a:solidFill>
          <a:ln w="12700">
            <a:solidFill>
              <a:srgbClr val="10B981"/>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SCRN-002</a:t>
            </a:r>
            <a:endParaRPr lang="en-US" sz="1000" dirty="0"/>
          </a:p>
        </p:txBody>
      </p:sp>
      <p:sp>
        <p:nvSpPr>
          <p:cNvPr id="4" name="Shape 2"/>
          <p:cNvSpPr/>
          <p:nvPr/>
        </p:nvSpPr>
        <p:spPr>
          <a:xfrm>
            <a:off x="256032" y="475488"/>
            <a:ext cx="1417320" cy="256032"/>
          </a:xfrm>
          <a:prstGeom prst="roundRect">
            <a:avLst>
              <a:gd name="adj" fmla="val 17857"/>
            </a:avLst>
          </a:prstGeom>
          <a:solidFill>
            <a:srgbClr val="10B981">
              <a:alpha val="20000"/>
            </a:srgbClr>
          </a:solidFill>
          <a:ln w="19050">
            <a:solidFill>
              <a:srgbClr val="10B981"/>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0B981"/>
                </a:solidFill>
              </a:rPr>
              <a:t>PRE-SCREEN</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High Relative Volume Required</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The stock must be showing significantly elevated relative volume vs its daily average. If the scanner isn't alerting on volume, the stock doesn't warrant attention. Minimum 5x cited in teaching corpus.</a:t>
            </a:r>
            <a:endParaRPr lang="en-US" sz="1350" dirty="0"/>
          </a:p>
        </p:txBody>
      </p:sp>
      <p:sp>
        <p:nvSpPr>
          <p:cNvPr id="16" name="Shape 14"/>
          <p:cNvSpPr/>
          <p:nvPr/>
        </p:nvSpPr>
        <p:spPr>
          <a:xfrm>
            <a:off x="256032" y="2743200"/>
            <a:ext cx="45720" cy="777240"/>
          </a:xfrm>
          <a:prstGeom prst="rect">
            <a:avLst/>
          </a:prstGeom>
          <a:solidFill>
            <a:srgbClr val="10B981"/>
          </a:solidFill>
          <a:ln w="12700">
            <a:solidFill>
              <a:srgbClr val="10B981"/>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 make the most money when the stock has five times relative volume... minimum of five."</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On hot days, a stock with only 5x may get skipped if others are at 50-100x. It's relative to the day's competition.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0B981"/>
          </a:solidFill>
          <a:ln w="12700">
            <a:solidFill>
              <a:srgbClr val="10B981"/>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SCRN-003</a:t>
            </a:r>
            <a:endParaRPr lang="en-US" sz="1000" dirty="0"/>
          </a:p>
        </p:txBody>
      </p:sp>
      <p:sp>
        <p:nvSpPr>
          <p:cNvPr id="4" name="Shape 2"/>
          <p:cNvSpPr/>
          <p:nvPr/>
        </p:nvSpPr>
        <p:spPr>
          <a:xfrm>
            <a:off x="256032" y="475488"/>
            <a:ext cx="1417320" cy="256032"/>
          </a:xfrm>
          <a:prstGeom prst="roundRect">
            <a:avLst>
              <a:gd name="adj" fmla="val 17857"/>
            </a:avLst>
          </a:prstGeom>
          <a:solidFill>
            <a:srgbClr val="10B981">
              <a:alpha val="20000"/>
            </a:srgbClr>
          </a:solidFill>
          <a:ln w="19050">
            <a:solidFill>
              <a:srgbClr val="10B981"/>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0B981"/>
                </a:solidFill>
              </a:rPr>
              <a:t>PRE-SCREEN</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Float Sweet Spot: Prefer Sub-5M</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Lower float amplifies every unit of buying pressure. Sub-1M is ideal for extreme squeezes. 1–5M is the primary zone. 5–10M is workable but choppier. Keep filter at ≤20–30M; let backtest data tighten it.</a:t>
            </a:r>
            <a:endParaRPr lang="en-US" sz="1350" dirty="0"/>
          </a:p>
        </p:txBody>
      </p:sp>
      <p:sp>
        <p:nvSpPr>
          <p:cNvPr id="16" name="Shape 14"/>
          <p:cNvSpPr/>
          <p:nvPr/>
        </p:nvSpPr>
        <p:spPr>
          <a:xfrm>
            <a:off x="256032" y="2743200"/>
            <a:ext cx="45720" cy="777240"/>
          </a:xfrm>
          <a:prstGeom prst="rect">
            <a:avLst/>
          </a:prstGeom>
          <a:solidFill>
            <a:srgbClr val="10B981"/>
          </a:solidFill>
          <a:ln w="12700">
            <a:solidFill>
              <a:srgbClr val="10B981"/>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"Most of them have floats that are less than five million shares."</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Easy-to-borrow + higher float = more short sellers = more chop. Hard-to-borrow + low float = squeeze amplifier.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0B981"/>
          </a:solidFill>
          <a:ln w="12700">
            <a:solidFill>
              <a:srgbClr val="10B981"/>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SCRN-004</a:t>
            </a:r>
            <a:endParaRPr lang="en-US" sz="1000" dirty="0"/>
          </a:p>
        </p:txBody>
      </p:sp>
      <p:sp>
        <p:nvSpPr>
          <p:cNvPr id="4" name="Shape 2"/>
          <p:cNvSpPr/>
          <p:nvPr/>
        </p:nvSpPr>
        <p:spPr>
          <a:xfrm>
            <a:off x="256032" y="475488"/>
            <a:ext cx="1417320" cy="256032"/>
          </a:xfrm>
          <a:prstGeom prst="roundRect">
            <a:avLst>
              <a:gd name="adj" fmla="val 17857"/>
            </a:avLst>
          </a:prstGeom>
          <a:solidFill>
            <a:srgbClr val="10B981">
              <a:alpha val="20000"/>
            </a:srgbClr>
          </a:solidFill>
          <a:ln w="19050">
            <a:solidFill>
              <a:srgbClr val="10B981"/>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0B981"/>
                </a:solidFill>
              </a:rPr>
              <a:t>PRE-SCREEN</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Price Range $2–$20 Sweet Spot</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Below ~$1.50 is 'too cheap' — moves too small, price action grindy. Above $20–$25 is 'too expensive' — position sizing risk increases and big mistakes are easier to make.</a:t>
            </a:r>
            <a:endParaRPr lang="en-US" sz="1350" dirty="0"/>
          </a:p>
        </p:txBody>
      </p:sp>
      <p:sp>
        <p:nvSpPr>
          <p:cNvPr id="16" name="Shape 14"/>
          <p:cNvSpPr/>
          <p:nvPr/>
        </p:nvSpPr>
        <p:spPr>
          <a:xfrm>
            <a:off x="256032" y="2743200"/>
            <a:ext cx="45720" cy="777240"/>
          </a:xfrm>
          <a:prstGeom prst="rect">
            <a:avLst/>
          </a:prstGeom>
          <a:solidFill>
            <a:srgbClr val="10B981"/>
          </a:solidFill>
          <a:ln w="12700">
            <a:solidFill>
              <a:srgbClr val="10B981"/>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"Once it was above $20 a share, I just said, nah, this is the type where I could make a big mistake on it."</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The $5–$10 range is the stated best zone for large share size. $10–$20 still workable with tighter stops.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0B981"/>
          </a:solidFill>
          <a:ln w="12700">
            <a:solidFill>
              <a:srgbClr val="10B981"/>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SCRN-005</a:t>
            </a:r>
            <a:endParaRPr lang="en-US" sz="1000" dirty="0"/>
          </a:p>
        </p:txBody>
      </p:sp>
      <p:sp>
        <p:nvSpPr>
          <p:cNvPr id="4" name="Shape 2"/>
          <p:cNvSpPr/>
          <p:nvPr/>
        </p:nvSpPr>
        <p:spPr>
          <a:xfrm>
            <a:off x="256032" y="475488"/>
            <a:ext cx="1417320" cy="256032"/>
          </a:xfrm>
          <a:prstGeom prst="roundRect">
            <a:avLst>
              <a:gd name="adj" fmla="val 17857"/>
            </a:avLst>
          </a:prstGeom>
          <a:solidFill>
            <a:srgbClr val="10B981">
              <a:alpha val="20000"/>
            </a:srgbClr>
          </a:solidFill>
          <a:ln w="19050">
            <a:solidFill>
              <a:srgbClr val="10B981"/>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0B981"/>
                </a:solidFill>
              </a:rPr>
              <a:t>PRE-SCREEN</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Daily Chart Must Have Room to Run</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Before entering, the daily chart must show clear space above — no immediate resistance from a gap fill, 200 EMA, or prior high directly overhead. The 200 EMA on the daily is treated as a hard ceiling.</a:t>
            </a:r>
            <a:endParaRPr lang="en-US" sz="1350" dirty="0"/>
          </a:p>
        </p:txBody>
      </p:sp>
      <p:sp>
        <p:nvSpPr>
          <p:cNvPr id="16" name="Shape 14"/>
          <p:cNvSpPr/>
          <p:nvPr/>
        </p:nvSpPr>
        <p:spPr>
          <a:xfrm>
            <a:off x="256032" y="2743200"/>
            <a:ext cx="45720" cy="777240"/>
          </a:xfrm>
          <a:prstGeom prst="rect">
            <a:avLst/>
          </a:prstGeom>
          <a:solidFill>
            <a:srgbClr val="10B981"/>
          </a:solidFill>
          <a:ln w="12700">
            <a:solidFill>
              <a:srgbClr val="10B981"/>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"Right into the 200 showing that level of resistance."</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 stock that has already broken above its 200 EMA is more bullish. Gap zones on the daily can be both targets and resistance.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0B981"/>
          </a:solidFill>
          <a:ln w="12700">
            <a:solidFill>
              <a:srgbClr val="10B981"/>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SCRN-006</a:t>
            </a:r>
            <a:endParaRPr lang="en-US" sz="1000" dirty="0"/>
          </a:p>
        </p:txBody>
      </p:sp>
      <p:sp>
        <p:nvSpPr>
          <p:cNvPr id="4" name="Shape 2"/>
          <p:cNvSpPr/>
          <p:nvPr/>
        </p:nvSpPr>
        <p:spPr>
          <a:xfrm>
            <a:off x="256032" y="475488"/>
            <a:ext cx="1417320" cy="256032"/>
          </a:xfrm>
          <a:prstGeom prst="roundRect">
            <a:avLst>
              <a:gd name="adj" fmla="val 17857"/>
            </a:avLst>
          </a:prstGeom>
          <a:solidFill>
            <a:srgbClr val="10B981">
              <a:alpha val="20000"/>
            </a:srgbClr>
          </a:solidFill>
          <a:ln w="19050">
            <a:solidFill>
              <a:srgbClr val="10B981"/>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0B981"/>
                </a:solidFill>
              </a:rPr>
              <a:t>PRE-SCREEN</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Recent Reverse Splits Are a Positive Catalyst</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A reverse split within the last few weeks reduces effective float, brings price into tradeable range, and often creates a short squeeze setup. Treated as a bullish catalyst signal.</a:t>
            </a:r>
            <a:endParaRPr lang="en-US" sz="1350" dirty="0"/>
          </a:p>
        </p:txBody>
      </p:sp>
      <p:sp>
        <p:nvSpPr>
          <p:cNvPr id="16" name="Shape 14"/>
          <p:cNvSpPr/>
          <p:nvPr/>
        </p:nvSpPr>
        <p:spPr>
          <a:xfrm>
            <a:off x="256032" y="2743200"/>
            <a:ext cx="45720" cy="777240"/>
          </a:xfrm>
          <a:prstGeom prst="rect">
            <a:avLst/>
          </a:prstGeom>
          <a:solidFill>
            <a:srgbClr val="10B981"/>
          </a:solidFill>
          <a:ln w="12700">
            <a:solidFill>
              <a:srgbClr val="10B981"/>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"Recent reverse splits are still a valid setup."</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Must be truly recent — days to weeks old, not months. If the post-split move already happened and the stock pulled back, it may be on the back side.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0B981"/>
          </a:solidFill>
          <a:ln w="12700">
            <a:solidFill>
              <a:srgbClr val="10B981"/>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SCRN-010</a:t>
            </a:r>
            <a:endParaRPr lang="en-US" sz="1000" dirty="0"/>
          </a:p>
        </p:txBody>
      </p:sp>
      <p:sp>
        <p:nvSpPr>
          <p:cNvPr id="4" name="Shape 2"/>
          <p:cNvSpPr/>
          <p:nvPr/>
        </p:nvSpPr>
        <p:spPr>
          <a:xfrm>
            <a:off x="256032" y="475488"/>
            <a:ext cx="1417320" cy="256032"/>
          </a:xfrm>
          <a:prstGeom prst="roundRect">
            <a:avLst>
              <a:gd name="adj" fmla="val 17857"/>
            </a:avLst>
          </a:prstGeom>
          <a:solidFill>
            <a:srgbClr val="10B981">
              <a:alpha val="20000"/>
            </a:srgbClr>
          </a:solidFill>
          <a:ln w="19050">
            <a:solidFill>
              <a:srgbClr val="10B981"/>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0B981"/>
                </a:solidFill>
              </a:rPr>
              <a:t>PRE-SCREEN</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Front Side of Move Only — Never Back Side</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Front side = stock making new highs with MACD positive and momentum building. Back side = stock has made its high and is failing to break it, MACD negative. Back-side stocks are skipped as primary entries even with valid catalysts.</a:t>
            </a:r>
            <a:endParaRPr lang="en-US" sz="1350" dirty="0"/>
          </a:p>
        </p:txBody>
      </p:sp>
      <p:sp>
        <p:nvSpPr>
          <p:cNvPr id="16" name="Shape 14"/>
          <p:cNvSpPr/>
          <p:nvPr/>
        </p:nvSpPr>
        <p:spPr>
          <a:xfrm>
            <a:off x="256032" y="2743200"/>
            <a:ext cx="45720" cy="777240"/>
          </a:xfrm>
          <a:prstGeom prst="rect">
            <a:avLst/>
          </a:prstGeom>
          <a:solidFill>
            <a:srgbClr val="10B981"/>
          </a:solidFill>
          <a:ln w="12700">
            <a:solidFill>
              <a:srgbClr val="10B981"/>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"All of this is sort of on the back side." [full stop — no trade]</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Front/back side can flip intraday. MACD line crossing positive = front side. Key question: are new highs being made on strong volume?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3B82F6"/>
          </a:solidFill>
          <a:ln w="12700">
            <a:solidFill>
              <a:srgbClr val="3B82F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ENTR-001</a:t>
            </a:r>
            <a:endParaRPr lang="en-US" sz="1000" dirty="0"/>
          </a:p>
        </p:txBody>
      </p:sp>
      <p:sp>
        <p:nvSpPr>
          <p:cNvPr id="4" name="Shape 2"/>
          <p:cNvSpPr/>
          <p:nvPr/>
        </p:nvSpPr>
        <p:spPr>
          <a:xfrm>
            <a:off x="256032" y="475488"/>
            <a:ext cx="1417320" cy="256032"/>
          </a:xfrm>
          <a:prstGeom prst="roundRect">
            <a:avLst>
              <a:gd name="adj" fmla="val 17857"/>
            </a:avLst>
          </a:prstGeom>
          <a:solidFill>
            <a:srgbClr val="3B82F6">
              <a:alpha val="20000"/>
            </a:srgbClr>
          </a:solidFill>
          <a:ln w="19050">
            <a:solidFill>
              <a:srgbClr val="3B82F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3B82F6"/>
                </a:solidFill>
              </a:rPr>
              <a:t>ENTRY</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MACD Line &gt; 0 = Trade Zone; MACD &lt; 0 = No Trade</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On the 1-minute chart, MACD line above zero = front side = trade zone. MACD line crossing below zero = back side = no long entries. This is a hard gate, not a preference. Applies at entry AND as a signal to stop adding to existing positions.</a:t>
            </a:r>
            <a:endParaRPr lang="en-US" sz="1350" dirty="0"/>
          </a:p>
        </p:txBody>
      </p:sp>
      <p:sp>
        <p:nvSpPr>
          <p:cNvPr id="16" name="Shape 14"/>
          <p:cNvSpPr/>
          <p:nvPr/>
        </p:nvSpPr>
        <p:spPr>
          <a:xfrm>
            <a:off x="256032" y="2743200"/>
            <a:ext cx="45720" cy="777240"/>
          </a:xfrm>
          <a:prstGeom prst="rect">
            <a:avLst/>
          </a:prstGeom>
          <a:solidFill>
            <a:srgbClr val="3B82F6"/>
          </a:solidFill>
          <a:ln w="12700">
            <a:solidFill>
              <a:srgbClr val="3B82F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"The MACD goes negative on the one minute chart... I was like, no, I'm not taking that trade because the MACD here is negative."</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3B82F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MACD 'negative' means the MACD LINE below zero — not just the histogram going red. Histogram negative = slow down. MACD line negative = hands off.</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3B82F6"/>
          </a:solidFill>
          <a:ln w="12700">
            <a:solidFill>
              <a:srgbClr val="3B82F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ENTR-002</a:t>
            </a:r>
            <a:endParaRPr lang="en-US" sz="1000" dirty="0"/>
          </a:p>
        </p:txBody>
      </p:sp>
      <p:sp>
        <p:nvSpPr>
          <p:cNvPr id="4" name="Shape 2"/>
          <p:cNvSpPr/>
          <p:nvPr/>
        </p:nvSpPr>
        <p:spPr>
          <a:xfrm>
            <a:off x="256032" y="475488"/>
            <a:ext cx="1417320" cy="256032"/>
          </a:xfrm>
          <a:prstGeom prst="roundRect">
            <a:avLst>
              <a:gd name="adj" fmla="val 17857"/>
            </a:avLst>
          </a:prstGeom>
          <a:solidFill>
            <a:srgbClr val="3B82F6">
              <a:alpha val="20000"/>
            </a:srgbClr>
          </a:solidFill>
          <a:ln w="19050">
            <a:solidFill>
              <a:srgbClr val="3B82F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3B82F6"/>
                </a:solidFill>
              </a:rPr>
              <a:t>ENTRY</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First Candle to Make New High (FCNH) = Entry Trigger</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After a pullback, the first candle that breaks above the prior candle's high signals momentum resumption. Entry is taken at the break of that candle high. Described as 'to the penny' — not approximated.</a:t>
            </a:r>
            <a:endParaRPr lang="en-US" sz="1350" dirty="0"/>
          </a:p>
        </p:txBody>
      </p:sp>
      <p:sp>
        <p:nvSpPr>
          <p:cNvPr id="16" name="Shape 14"/>
          <p:cNvSpPr/>
          <p:nvPr/>
        </p:nvSpPr>
        <p:spPr>
          <a:xfrm>
            <a:off x="256032" y="2743200"/>
            <a:ext cx="45720" cy="777240"/>
          </a:xfrm>
          <a:prstGeom prst="rect">
            <a:avLst/>
          </a:prstGeom>
          <a:solidFill>
            <a:srgbClr val="3B82F6"/>
          </a:solidFill>
          <a:ln w="12700">
            <a:solidFill>
              <a:srgbClr val="3B82F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"The first candle to make a new high — that is the moment of entry, that is to the penny. It's not up for negotiation."</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3B82F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Applies on 1-minute (scalp) and 5-minute (higher conviction) charts. The 5-min FCNH is used for stronger confirmation on bigger moves.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3B82F6"/>
          </a:solidFill>
          <a:ln w="12700">
            <a:solidFill>
              <a:srgbClr val="3B82F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ENTR-003</a:t>
            </a:r>
            <a:endParaRPr lang="en-US" sz="1000" dirty="0"/>
          </a:p>
        </p:txBody>
      </p:sp>
      <p:sp>
        <p:nvSpPr>
          <p:cNvPr id="4" name="Shape 2"/>
          <p:cNvSpPr/>
          <p:nvPr/>
        </p:nvSpPr>
        <p:spPr>
          <a:xfrm>
            <a:off x="256032" y="475488"/>
            <a:ext cx="1417320" cy="256032"/>
          </a:xfrm>
          <a:prstGeom prst="roundRect">
            <a:avLst>
              <a:gd name="adj" fmla="val 17857"/>
            </a:avLst>
          </a:prstGeom>
          <a:solidFill>
            <a:srgbClr val="3B82F6">
              <a:alpha val="20000"/>
            </a:srgbClr>
          </a:solidFill>
          <a:ln w="19050">
            <a:solidFill>
              <a:srgbClr val="3B82F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3B82F6"/>
                </a:solidFill>
              </a:rPr>
              <a:t>ENTRY</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Break of Whole-Dollar and Half-Dollar Levels</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Psychological price levels ($7, $7.50, $8) act as resistance. A clean break above these on volume is a primary entry trigger. Buy orders placed just above the level, stop just below.</a:t>
            </a:r>
            <a:endParaRPr lang="en-US" sz="1350" dirty="0"/>
          </a:p>
        </p:txBody>
      </p:sp>
      <p:sp>
        <p:nvSpPr>
          <p:cNvPr id="16" name="Shape 14"/>
          <p:cNvSpPr/>
          <p:nvPr/>
        </p:nvSpPr>
        <p:spPr>
          <a:xfrm>
            <a:off x="256032" y="2743200"/>
            <a:ext cx="45720" cy="777240"/>
          </a:xfrm>
          <a:prstGeom prst="rect">
            <a:avLst/>
          </a:prstGeom>
          <a:solidFill>
            <a:srgbClr val="3B82F6"/>
          </a:solidFill>
          <a:ln w="12700">
            <a:solidFill>
              <a:srgbClr val="3B82F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 jumped in for the break of 7 right there."</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3B82F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Works best on $2–$15 stocks. At higher prices, key levels are farther apart and stop sizes grow. Level must break on strong tape — visible buying pressure on Level 2.</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3B82F6"/>
          </a:solidFill>
          <a:ln w="12700">
            <a:solidFill>
              <a:srgbClr val="3B82F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ENTR-004</a:t>
            </a:r>
            <a:endParaRPr lang="en-US" sz="1000" dirty="0"/>
          </a:p>
        </p:txBody>
      </p:sp>
      <p:sp>
        <p:nvSpPr>
          <p:cNvPr id="4" name="Shape 2"/>
          <p:cNvSpPr/>
          <p:nvPr/>
        </p:nvSpPr>
        <p:spPr>
          <a:xfrm>
            <a:off x="256032" y="475488"/>
            <a:ext cx="1417320" cy="256032"/>
          </a:xfrm>
          <a:prstGeom prst="roundRect">
            <a:avLst>
              <a:gd name="adj" fmla="val 17857"/>
            </a:avLst>
          </a:prstGeom>
          <a:solidFill>
            <a:srgbClr val="3B82F6">
              <a:alpha val="20000"/>
            </a:srgbClr>
          </a:solidFill>
          <a:ln w="19050">
            <a:solidFill>
              <a:srgbClr val="3B82F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3B82F6"/>
                </a:solidFill>
              </a:rPr>
              <a:t>ENTRY</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Micro Pullback / ABCD Pattern Entry</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After initial push (A→B), stock consolidates slightly (B→C). Break above C is the entry. Lower risk than chasing the initial spike — you're buying the dip, not the rip.</a:t>
            </a:r>
            <a:endParaRPr lang="en-US" sz="1350" dirty="0"/>
          </a:p>
        </p:txBody>
      </p:sp>
      <p:sp>
        <p:nvSpPr>
          <p:cNvPr id="16" name="Shape 14"/>
          <p:cNvSpPr/>
          <p:nvPr/>
        </p:nvSpPr>
        <p:spPr>
          <a:xfrm>
            <a:off x="256032" y="2743200"/>
            <a:ext cx="45720" cy="777240"/>
          </a:xfrm>
          <a:prstGeom prst="rect">
            <a:avLst/>
          </a:prstGeom>
          <a:solidFill>
            <a:srgbClr val="3B82F6"/>
          </a:solidFill>
          <a:ln w="12700">
            <a:solidFill>
              <a:srgbClr val="3B82F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"Dips down, pops back up, dips down, pops back up, and I took my first entry right here."</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3B82F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Requires overall trend still up (MACD positive). If the pullback is breaking key support or MACD has gone negative, it's a reversal not a micro pullback.</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3B82F6"/>
          </a:solidFill>
          <a:ln w="12700">
            <a:solidFill>
              <a:srgbClr val="3B82F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ENTR-005</a:t>
            </a:r>
            <a:endParaRPr lang="en-US" sz="1000" dirty="0"/>
          </a:p>
        </p:txBody>
      </p:sp>
      <p:sp>
        <p:nvSpPr>
          <p:cNvPr id="4" name="Shape 2"/>
          <p:cNvSpPr/>
          <p:nvPr/>
        </p:nvSpPr>
        <p:spPr>
          <a:xfrm>
            <a:off x="256032" y="475488"/>
            <a:ext cx="1417320" cy="256032"/>
          </a:xfrm>
          <a:prstGeom prst="roundRect">
            <a:avLst>
              <a:gd name="adj" fmla="val 17857"/>
            </a:avLst>
          </a:prstGeom>
          <a:solidFill>
            <a:srgbClr val="3B82F6">
              <a:alpha val="20000"/>
            </a:srgbClr>
          </a:solidFill>
          <a:ln w="19050">
            <a:solidFill>
              <a:srgbClr val="3B82F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3B82F6"/>
                </a:solidFill>
              </a:rPr>
              <a:t>ENTRY</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Above VWAP = Bullish; Below VWAP = No Long Entry</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VWAP is a directional filter. Above VWAP = bullish bias, long entries valid. Below VWAP = bearish bias, no long entries initiated. A stock that reclaims VWAP can be re-evaluated.</a:t>
            </a:r>
            <a:endParaRPr lang="en-US" sz="1350" dirty="0"/>
          </a:p>
        </p:txBody>
      </p:sp>
      <p:sp>
        <p:nvSpPr>
          <p:cNvPr id="16" name="Shape 14"/>
          <p:cNvSpPr/>
          <p:nvPr/>
        </p:nvSpPr>
        <p:spPr>
          <a:xfrm>
            <a:off x="256032" y="2743200"/>
            <a:ext cx="45720" cy="777240"/>
          </a:xfrm>
          <a:prstGeom prst="rect">
            <a:avLst/>
          </a:prstGeom>
          <a:solidFill>
            <a:srgbClr val="3B82F6"/>
          </a:solidFill>
          <a:ln w="12700">
            <a:solidFill>
              <a:srgbClr val="3B82F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"Above VWAP is bullish, below VWAP is bearish. We're below VWAP so it's bearish."</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3B82F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 VWAP reclaim trade (stock dips below then quickly recaptures) can be valid. But initiating a fresh long below VWAP is explicitly avoided.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3B82F6"/>
          </a:solidFill>
          <a:ln w="12700">
            <a:solidFill>
              <a:srgbClr val="3B82F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ENTR-009</a:t>
            </a:r>
            <a:endParaRPr lang="en-US" sz="1000" dirty="0"/>
          </a:p>
        </p:txBody>
      </p:sp>
      <p:sp>
        <p:nvSpPr>
          <p:cNvPr id="4" name="Shape 2"/>
          <p:cNvSpPr/>
          <p:nvPr/>
        </p:nvSpPr>
        <p:spPr>
          <a:xfrm>
            <a:off x="256032" y="475488"/>
            <a:ext cx="1417320" cy="256032"/>
          </a:xfrm>
          <a:prstGeom prst="roundRect">
            <a:avLst>
              <a:gd name="adj" fmla="val 17857"/>
            </a:avLst>
          </a:prstGeom>
          <a:solidFill>
            <a:srgbClr val="3B82F6">
              <a:alpha val="20000"/>
            </a:srgbClr>
          </a:solidFill>
          <a:ln w="19050">
            <a:solidFill>
              <a:srgbClr val="3B82F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3B82F6"/>
                </a:solidFill>
              </a:rPr>
              <a:t>ENTRY</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Topping Tails Signal Rejection — Do Not Enter</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A candle with a long upper wick means buyers pushed price higher but sellers slammed it back. Multiple consecutive topping tails at the same level = hard resistance = do not enter, or exit if already holding.</a:t>
            </a:r>
            <a:endParaRPr lang="en-US" sz="1350" dirty="0"/>
          </a:p>
        </p:txBody>
      </p:sp>
      <p:sp>
        <p:nvSpPr>
          <p:cNvPr id="16" name="Shape 14"/>
          <p:cNvSpPr/>
          <p:nvPr/>
        </p:nvSpPr>
        <p:spPr>
          <a:xfrm>
            <a:off x="256032" y="2743200"/>
            <a:ext cx="45720" cy="777240"/>
          </a:xfrm>
          <a:prstGeom prst="rect">
            <a:avLst/>
          </a:prstGeom>
          <a:solidFill>
            <a:srgbClr val="3B82F6"/>
          </a:solidFill>
          <a:ln w="12700">
            <a:solidFill>
              <a:srgbClr val="3B82F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"Look at all these topping tails... showing us that the stock squeezes up but is unable to hold those levels."</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3B82F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 single topping tail after a long run isn't automatically bearish — could be profit-taking. Multiple tails at the same resistance = the level is hard, get out.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EF4444"/>
          </a:solidFill>
          <a:ln w="12700">
            <a:solidFill>
              <a:srgbClr val="EF4444"/>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STOP-001</a:t>
            </a:r>
            <a:endParaRPr lang="en-US" sz="1000" dirty="0"/>
          </a:p>
        </p:txBody>
      </p:sp>
      <p:sp>
        <p:nvSpPr>
          <p:cNvPr id="4" name="Shape 2"/>
          <p:cNvSpPr/>
          <p:nvPr/>
        </p:nvSpPr>
        <p:spPr>
          <a:xfrm>
            <a:off x="256032" y="475488"/>
            <a:ext cx="1417320" cy="256032"/>
          </a:xfrm>
          <a:prstGeom prst="roundRect">
            <a:avLst>
              <a:gd name="adj" fmla="val 17857"/>
            </a:avLst>
          </a:prstGeom>
          <a:solidFill>
            <a:srgbClr val="EF4444">
              <a:alpha val="20000"/>
            </a:srgbClr>
          </a:solidFill>
          <a:ln w="19050">
            <a:solidFill>
              <a:srgbClr val="EF4444"/>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EF4444"/>
                </a:solidFill>
              </a:rPr>
              <a:t>STOP-LOSS</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MACD Negative on 1-Min = Hands Off / Stop Adding</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When the 1-minute MACD line crosses below zero, stop adding to positions immediately. Do not initiate new long entries. With falling price, this is a clear exit signal for remaining position.</a:t>
            </a:r>
            <a:endParaRPr lang="en-US" sz="1350" dirty="0"/>
          </a:p>
        </p:txBody>
      </p:sp>
      <p:sp>
        <p:nvSpPr>
          <p:cNvPr id="16" name="Shape 14"/>
          <p:cNvSpPr/>
          <p:nvPr/>
        </p:nvSpPr>
        <p:spPr>
          <a:xfrm>
            <a:off x="256032" y="2743200"/>
            <a:ext cx="45720" cy="777240"/>
          </a:xfrm>
          <a:prstGeom prst="rect">
            <a:avLst/>
          </a:prstGeom>
          <a:solidFill>
            <a:srgbClr val="EF4444"/>
          </a:solidFill>
          <a:ln w="12700">
            <a:solidFill>
              <a:srgbClr val="EF4444"/>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"When the MACD is crossing over to negative, that's when I should be hands off."</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MACD crossing negative mid-move is a stop-adding signal immediately, even if the position is still profitable. Goal: don't give back gains by riding the back side.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EF4444"/>
          </a:solidFill>
          <a:ln w="12700">
            <a:solidFill>
              <a:srgbClr val="EF4444"/>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STOP-003</a:t>
            </a:r>
            <a:endParaRPr lang="en-US" sz="1000" dirty="0"/>
          </a:p>
        </p:txBody>
      </p:sp>
      <p:sp>
        <p:nvSpPr>
          <p:cNvPr id="4" name="Shape 2"/>
          <p:cNvSpPr/>
          <p:nvPr/>
        </p:nvSpPr>
        <p:spPr>
          <a:xfrm>
            <a:off x="256032" y="475488"/>
            <a:ext cx="1417320" cy="256032"/>
          </a:xfrm>
          <a:prstGeom prst="roundRect">
            <a:avLst>
              <a:gd name="adj" fmla="val 17857"/>
            </a:avLst>
          </a:prstGeom>
          <a:solidFill>
            <a:srgbClr val="EF4444">
              <a:alpha val="20000"/>
            </a:srgbClr>
          </a:solidFill>
          <a:ln w="19050">
            <a:solidFill>
              <a:srgbClr val="EF4444"/>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EF4444"/>
                </a:solidFill>
              </a:rPr>
              <a:t>STOP-LOSS</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Give Back 50% of Peak Daily Profit = Hard Stop for the Day</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If daily P&amp;L drops below 50% of the peak intraday high, stop trading for the day. This is a non-negotiable hard stop — prevents turning a green day into a red day.</a:t>
            </a:r>
            <a:endParaRPr lang="en-US" sz="1350" dirty="0"/>
          </a:p>
        </p:txBody>
      </p:sp>
      <p:sp>
        <p:nvSpPr>
          <p:cNvPr id="16" name="Shape 14"/>
          <p:cNvSpPr/>
          <p:nvPr/>
        </p:nvSpPr>
        <p:spPr>
          <a:xfrm>
            <a:off x="256032" y="2743200"/>
            <a:ext cx="45720" cy="777240"/>
          </a:xfrm>
          <a:prstGeom prst="rect">
            <a:avLst/>
          </a:prstGeom>
          <a:solidFill>
            <a:srgbClr val="EF4444"/>
          </a:solidFill>
          <a:ln w="12700">
            <a:solidFill>
              <a:srgbClr val="EF4444"/>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"If I give back 50% that's a hard stop. I have to walk away if I give back half my day."</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This is a daily session rule, not a per-trade rule. Example: up $10K peak, falls to $5K = walk away. The ~30% drawback rule is the softer precursor.</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EF4444"/>
          </a:solidFill>
          <a:ln w="12700">
            <a:solidFill>
              <a:srgbClr val="EF4444"/>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STOP-007</a:t>
            </a:r>
            <a:endParaRPr lang="en-US" sz="1000" dirty="0"/>
          </a:p>
        </p:txBody>
      </p:sp>
      <p:sp>
        <p:nvSpPr>
          <p:cNvPr id="4" name="Shape 2"/>
          <p:cNvSpPr/>
          <p:nvPr/>
        </p:nvSpPr>
        <p:spPr>
          <a:xfrm>
            <a:off x="256032" y="475488"/>
            <a:ext cx="1417320" cy="256032"/>
          </a:xfrm>
          <a:prstGeom prst="roundRect">
            <a:avLst>
              <a:gd name="adj" fmla="val 17857"/>
            </a:avLst>
          </a:prstGeom>
          <a:solidFill>
            <a:srgbClr val="EF4444">
              <a:alpha val="20000"/>
            </a:srgbClr>
          </a:solidFill>
          <a:ln w="19050">
            <a:solidFill>
              <a:srgbClr val="EF4444"/>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EF4444"/>
                </a:solidFill>
              </a:rPr>
              <a:t>STOP-LOSS</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Position Stop = Below Key Support Level</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Every position is entered with a defined support level as the stop — the low of the pullback, a whole dollar, or VWAP. If price breaks below that level, exit. The stop is defined before entry.</a:t>
            </a:r>
            <a:endParaRPr lang="en-US" sz="1350" dirty="0"/>
          </a:p>
        </p:txBody>
      </p:sp>
      <p:sp>
        <p:nvSpPr>
          <p:cNvPr id="16" name="Shape 14"/>
          <p:cNvSpPr/>
          <p:nvPr/>
        </p:nvSpPr>
        <p:spPr>
          <a:xfrm>
            <a:off x="256032" y="2743200"/>
            <a:ext cx="45720" cy="777240"/>
          </a:xfrm>
          <a:prstGeom prst="rect">
            <a:avLst/>
          </a:prstGeom>
          <a:solidFill>
            <a:srgbClr val="EF4444"/>
          </a:solidFill>
          <a:ln w="12700">
            <a:solidFill>
              <a:srgbClr val="EF4444"/>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"Stop was six. Was looking for continuation." [exits when level breaks]</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Typically the whole dollar or half dollar immediately below entry. E.g., buy at $6.05 for break of $6 → stop below $6.</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F59E0B"/>
          </a:solidFill>
          <a:ln w="12700">
            <a:solidFill>
              <a:srgbClr val="F59E0B"/>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PROF-001</a:t>
            </a:r>
            <a:endParaRPr lang="en-US" sz="1000" dirty="0"/>
          </a:p>
        </p:txBody>
      </p:sp>
      <p:sp>
        <p:nvSpPr>
          <p:cNvPr id="4" name="Shape 2"/>
          <p:cNvSpPr/>
          <p:nvPr/>
        </p:nvSpPr>
        <p:spPr>
          <a:xfrm>
            <a:off x="256032" y="475488"/>
            <a:ext cx="1417320" cy="256032"/>
          </a:xfrm>
          <a:prstGeom prst="roundRect">
            <a:avLst>
              <a:gd name="adj" fmla="val 17857"/>
            </a:avLst>
          </a:prstGeom>
          <a:solidFill>
            <a:srgbClr val="F59E0B">
              <a:alpha val="20000"/>
            </a:srgbClr>
          </a:solidFill>
          <a:ln w="19050">
            <a:solidFill>
              <a:srgbClr val="F59E0B"/>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F59E0B"/>
                </a:solidFill>
              </a:rPr>
              <a:t>PROFIT</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Don't Cap Green Days — Cap Red Days</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Red days have hard stops (maximum daily loss). Green days are never cut short proactively. As long as quality setups exist and the 50% giveback stop hasn't triggered, keep trading.</a:t>
            </a:r>
            <a:endParaRPr lang="en-US" sz="1350" dirty="0"/>
          </a:p>
        </p:txBody>
      </p:sp>
      <p:sp>
        <p:nvSpPr>
          <p:cNvPr id="16" name="Shape 14"/>
          <p:cNvSpPr/>
          <p:nvPr/>
        </p:nvSpPr>
        <p:spPr>
          <a:xfrm>
            <a:off x="256032" y="2743200"/>
            <a:ext cx="45720" cy="777240"/>
          </a:xfrm>
          <a:prstGeom prst="rect">
            <a:avLst/>
          </a:prstGeom>
          <a:solidFill>
            <a:srgbClr val="F59E0B"/>
          </a:solidFill>
          <a:ln w="12700">
            <a:solidFill>
              <a:srgbClr val="F59E0B"/>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 have to cap my loss days, but I don't want to cap my green days."</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F59E0B"/>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The 50% giveback rule is the only thing that ends a green day. Never walk away from a green day just because you hit the daily goal.</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F59E0B"/>
          </a:solidFill>
          <a:ln w="12700">
            <a:solidFill>
              <a:srgbClr val="F59E0B"/>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PROF-002</a:t>
            </a:r>
            <a:endParaRPr lang="en-US" sz="1000" dirty="0"/>
          </a:p>
        </p:txBody>
      </p:sp>
      <p:sp>
        <p:nvSpPr>
          <p:cNvPr id="4" name="Shape 2"/>
          <p:cNvSpPr/>
          <p:nvPr/>
        </p:nvSpPr>
        <p:spPr>
          <a:xfrm>
            <a:off x="256032" y="475488"/>
            <a:ext cx="1417320" cy="256032"/>
          </a:xfrm>
          <a:prstGeom prst="roundRect">
            <a:avLst>
              <a:gd name="adj" fmla="val 17857"/>
            </a:avLst>
          </a:prstGeom>
          <a:solidFill>
            <a:srgbClr val="F59E0B">
              <a:alpha val="20000"/>
            </a:srgbClr>
          </a:solidFill>
          <a:ln w="19050">
            <a:solidFill>
              <a:srgbClr val="F59E0B"/>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F59E0B"/>
                </a:solidFill>
              </a:rPr>
              <a:t>PROFIT</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Scale Out at Resistance — Partial Profits, Let Rest Run</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At first target (half-dollar, whole-dollar, high of day), take partial profits — often half the position. Hold the remainder for an extended move. Locks in gains while keeping exposure.</a:t>
            </a:r>
            <a:endParaRPr lang="en-US" sz="1350" dirty="0"/>
          </a:p>
        </p:txBody>
      </p:sp>
      <p:sp>
        <p:nvSpPr>
          <p:cNvPr id="16" name="Shape 14"/>
          <p:cNvSpPr/>
          <p:nvPr/>
        </p:nvSpPr>
        <p:spPr>
          <a:xfrm>
            <a:off x="256032" y="2743200"/>
            <a:ext cx="45720" cy="777240"/>
          </a:xfrm>
          <a:prstGeom prst="rect">
            <a:avLst/>
          </a:prstGeom>
          <a:solidFill>
            <a:srgbClr val="F59E0B"/>
          </a:solidFill>
          <a:ln w="12700">
            <a:solidFill>
              <a:srgbClr val="F59E0B"/>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 take half off the table... up about $1,000. Holding the rest to see if we get a move back up towards [the target]."</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F59E0B"/>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More aggressive in hot markets (hold more); more defensive in cold (sell more early). The ratio varies with conviction and market conditions.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F59E0B"/>
          </a:solidFill>
          <a:ln w="12700">
            <a:solidFill>
              <a:srgbClr val="F59E0B"/>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PROF-003</a:t>
            </a:r>
            <a:endParaRPr lang="en-US" sz="1000" dirty="0"/>
          </a:p>
        </p:txBody>
      </p:sp>
      <p:sp>
        <p:nvSpPr>
          <p:cNvPr id="4" name="Shape 2"/>
          <p:cNvSpPr/>
          <p:nvPr/>
        </p:nvSpPr>
        <p:spPr>
          <a:xfrm>
            <a:off x="256032" y="475488"/>
            <a:ext cx="1417320" cy="256032"/>
          </a:xfrm>
          <a:prstGeom prst="roundRect">
            <a:avLst>
              <a:gd name="adj" fmla="val 17857"/>
            </a:avLst>
          </a:prstGeom>
          <a:solidFill>
            <a:srgbClr val="F59E0B">
              <a:alpha val="20000"/>
            </a:srgbClr>
          </a:solidFill>
          <a:ln w="19050">
            <a:solidFill>
              <a:srgbClr val="F59E0B"/>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F59E0B"/>
                </a:solidFill>
              </a:rPr>
              <a:t>PROFIT</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Daily Profit Goals Govern Session Aggression</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Cold market daily goal: $5K. Hot market daily goal: $20K. Weekly cold: ~$25K. The goal sets the minimum floor — not the ceiling. Hitting the goal doesn't mean stop trading.</a:t>
            </a:r>
            <a:endParaRPr lang="en-US" sz="1350" dirty="0"/>
          </a:p>
        </p:txBody>
      </p:sp>
      <p:sp>
        <p:nvSpPr>
          <p:cNvPr id="16" name="Shape 14"/>
          <p:cNvSpPr/>
          <p:nvPr/>
        </p:nvSpPr>
        <p:spPr>
          <a:xfrm>
            <a:off x="256032" y="2743200"/>
            <a:ext cx="45720" cy="777240"/>
          </a:xfrm>
          <a:prstGeom prst="rect">
            <a:avLst/>
          </a:prstGeom>
          <a:solidFill>
            <a:srgbClr val="F59E0B"/>
          </a:solidFill>
          <a:ln w="12700">
            <a:solidFill>
              <a:srgbClr val="F59E0B"/>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"Cold market daily goal, $5,000 a day... Hot market daily goal is $20,000 a day."</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F59E0B"/>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Forcing trades to 'make up' a missed daily goal is a known trap. If the goal is missed due to a slow day, accept it — don't force bad setups.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F59E0B"/>
          </a:solidFill>
          <a:ln w="12700">
            <a:solidFill>
              <a:srgbClr val="F59E0B"/>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PROF-004</a:t>
            </a:r>
            <a:endParaRPr lang="en-US" sz="1000" dirty="0"/>
          </a:p>
        </p:txBody>
      </p:sp>
      <p:sp>
        <p:nvSpPr>
          <p:cNvPr id="4" name="Shape 2"/>
          <p:cNvSpPr/>
          <p:nvPr/>
        </p:nvSpPr>
        <p:spPr>
          <a:xfrm>
            <a:off x="256032" y="475488"/>
            <a:ext cx="1417320" cy="256032"/>
          </a:xfrm>
          <a:prstGeom prst="roundRect">
            <a:avLst>
              <a:gd name="adj" fmla="val 17857"/>
            </a:avLst>
          </a:prstGeom>
          <a:solidFill>
            <a:srgbClr val="F59E0B">
              <a:alpha val="20000"/>
            </a:srgbClr>
          </a:solidFill>
          <a:ln w="19050">
            <a:solidFill>
              <a:srgbClr val="F59E0B"/>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F59E0B"/>
                </a:solidFill>
              </a:rPr>
              <a:t>PROFIT</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In Hot Markets, Size Up With a Profit Cushion</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When the market is hot AND an intraday profit cushion has been built, position size should be significantly increased to capitalize. The cushion absorbs a loss if the aggressive trade fails.</a:t>
            </a:r>
            <a:endParaRPr lang="en-US" sz="1350" dirty="0"/>
          </a:p>
        </p:txBody>
      </p:sp>
      <p:sp>
        <p:nvSpPr>
          <p:cNvPr id="16" name="Shape 14"/>
          <p:cNvSpPr/>
          <p:nvPr/>
        </p:nvSpPr>
        <p:spPr>
          <a:xfrm>
            <a:off x="256032" y="2743200"/>
            <a:ext cx="45720" cy="777240"/>
          </a:xfrm>
          <a:prstGeom prst="rect">
            <a:avLst/>
          </a:prstGeom>
          <a:solidFill>
            <a:srgbClr val="F59E0B"/>
          </a:solidFill>
          <a:ln w="12700">
            <a:solidFill>
              <a:srgbClr val="F59E0B"/>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"In a hotter market I would be trading with much larger size, I would be adding much more aggressively."</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F59E0B"/>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Sizing up without a cushion risks the first trade blowing up the account. Sequence: break ice small → build cushion → increase size.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F59E0B"/>
          </a:solidFill>
          <a:ln w="12700">
            <a:solidFill>
              <a:srgbClr val="F59E0B"/>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PROF-005</a:t>
            </a:r>
            <a:endParaRPr lang="en-US" sz="1000" dirty="0"/>
          </a:p>
        </p:txBody>
      </p:sp>
      <p:sp>
        <p:nvSpPr>
          <p:cNvPr id="4" name="Shape 2"/>
          <p:cNvSpPr/>
          <p:nvPr/>
        </p:nvSpPr>
        <p:spPr>
          <a:xfrm>
            <a:off x="256032" y="475488"/>
            <a:ext cx="1417320" cy="256032"/>
          </a:xfrm>
          <a:prstGeom prst="roundRect">
            <a:avLst>
              <a:gd name="adj" fmla="val 17857"/>
            </a:avLst>
          </a:prstGeom>
          <a:solidFill>
            <a:srgbClr val="F59E0B">
              <a:alpha val="20000"/>
            </a:srgbClr>
          </a:solidFill>
          <a:ln w="19050">
            <a:solidFill>
              <a:srgbClr val="F59E0B"/>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F59E0B"/>
                </a:solidFill>
              </a:rPr>
              <a:t>PROFIT</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In Cold Markets, Reduce Size — Accept Smaller Wins</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Cold markets have lower volume, fewer setups, and choppier price action. Reduce share size, take fewer trades, accept $1K–$3K wins vs $10K+. No-trade days are acceptable.</a:t>
            </a:r>
            <a:endParaRPr lang="en-US" sz="1350" dirty="0"/>
          </a:p>
        </p:txBody>
      </p:sp>
      <p:sp>
        <p:nvSpPr>
          <p:cNvPr id="16" name="Shape 14"/>
          <p:cNvSpPr/>
          <p:nvPr/>
        </p:nvSpPr>
        <p:spPr>
          <a:xfrm>
            <a:off x="256032" y="2743200"/>
            <a:ext cx="45720" cy="777240"/>
          </a:xfrm>
          <a:prstGeom prst="rect">
            <a:avLst/>
          </a:prstGeom>
          <a:solidFill>
            <a:srgbClr val="F59E0B"/>
          </a:solidFill>
          <a:ln w="12700">
            <a:solidFill>
              <a:srgbClr val="F59E0B"/>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"There's not as many opportunities, there's not as much volume, I've got to reduce my size, I take fewer trades."</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F59E0B"/>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 no-trade day beats a forced-trade red day. Protecting capital in cold markets keeps the account ready for the next hot phase.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F59E0B"/>
          </a:solidFill>
          <a:ln w="12700">
            <a:solidFill>
              <a:srgbClr val="F59E0B"/>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PROF-006</a:t>
            </a:r>
            <a:endParaRPr lang="en-US" sz="1000" dirty="0"/>
          </a:p>
        </p:txBody>
      </p:sp>
      <p:sp>
        <p:nvSpPr>
          <p:cNvPr id="4" name="Shape 2"/>
          <p:cNvSpPr/>
          <p:nvPr/>
        </p:nvSpPr>
        <p:spPr>
          <a:xfrm>
            <a:off x="256032" y="475488"/>
            <a:ext cx="1417320" cy="256032"/>
          </a:xfrm>
          <a:prstGeom prst="roundRect">
            <a:avLst>
              <a:gd name="adj" fmla="val 17857"/>
            </a:avLst>
          </a:prstGeom>
          <a:solidFill>
            <a:srgbClr val="F59E0B">
              <a:alpha val="20000"/>
            </a:srgbClr>
          </a:solidFill>
          <a:ln w="19050">
            <a:solidFill>
              <a:srgbClr val="F59E0B"/>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F59E0B"/>
                </a:solidFill>
              </a:rPr>
              <a:t>PROFIT</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Start Every Session Small — Break Ice, Build Cushion, Then Size Up</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Regardless of market conditions, the first trade should be smaller size to establish a green cushion. Once in profit, increase risk. Never open a session at maximum share size.</a:t>
            </a:r>
            <a:endParaRPr lang="en-US" sz="1350" dirty="0"/>
          </a:p>
        </p:txBody>
      </p:sp>
      <p:sp>
        <p:nvSpPr>
          <p:cNvPr id="16" name="Shape 14"/>
          <p:cNvSpPr/>
          <p:nvPr/>
        </p:nvSpPr>
        <p:spPr>
          <a:xfrm>
            <a:off x="256032" y="2743200"/>
            <a:ext cx="45720" cy="777240"/>
          </a:xfrm>
          <a:prstGeom prst="rect">
            <a:avLst/>
          </a:prstGeom>
          <a:solidFill>
            <a:srgbClr val="F59E0B"/>
          </a:solidFill>
          <a:ln w="12700">
            <a:solidFill>
              <a:srgbClr val="F59E0B"/>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"If I trade with smaller size on my first couple trades and work on building my cushion, then if I start going red, I could just take my foot off the gas very quickly."</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F59E0B"/>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On very high-conviction setups, initial size may be slightly larger but still not maximum. The psychological benefit of being early-green outweighs marginal missed gains.</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A855F7"/>
          </a:solidFill>
          <a:ln w="12700">
            <a:solidFill>
              <a:srgbClr val="A855F7"/>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MKTCOND-001</a:t>
            </a:r>
            <a:endParaRPr lang="en-US" sz="1000" dirty="0"/>
          </a:p>
        </p:txBody>
      </p:sp>
      <p:sp>
        <p:nvSpPr>
          <p:cNvPr id="4" name="Shape 2"/>
          <p:cNvSpPr/>
          <p:nvPr/>
        </p:nvSpPr>
        <p:spPr>
          <a:xfrm>
            <a:off x="256032" y="475488"/>
            <a:ext cx="1417320" cy="256032"/>
          </a:xfrm>
          <a:prstGeom prst="roundRect">
            <a:avLst>
              <a:gd name="adj" fmla="val 17857"/>
            </a:avLst>
          </a:prstGeom>
          <a:solidFill>
            <a:srgbClr val="A855F7">
              <a:alpha val="20000"/>
            </a:srgbClr>
          </a:solidFill>
          <a:ln w="19050">
            <a:solidFill>
              <a:srgbClr val="A855F7"/>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A855F7"/>
                </a:solidFill>
              </a:rPr>
              <a:t>MKT CONDITIONS</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Cold vs Hot Market Framework Governs Everything</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The market is either cold or hot. This determination governs daily goals, position sizing, trade frequency, and acceptable risk. It's assessed every morning from scanner quality.</a:t>
            </a:r>
            <a:endParaRPr lang="en-US" sz="1350" dirty="0"/>
          </a:p>
        </p:txBody>
      </p:sp>
      <p:sp>
        <p:nvSpPr>
          <p:cNvPr id="16" name="Shape 14"/>
          <p:cNvSpPr/>
          <p:nvPr/>
        </p:nvSpPr>
        <p:spPr>
          <a:xfrm>
            <a:off x="256032" y="2743200"/>
            <a:ext cx="45720" cy="777240"/>
          </a:xfrm>
          <a:prstGeom prst="rect">
            <a:avLst/>
          </a:prstGeom>
          <a:solidFill>
            <a:srgbClr val="A855F7"/>
          </a:solidFill>
          <a:ln w="12700">
            <a:solidFill>
              <a:srgbClr val="A855F7"/>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"You go from cold, cold, cold, cold to hot and then it might go right back to cold tomorrow."</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A855F7"/>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The transition can happen within a single day. Hot/cold is not purely binary — warm days exist. Scanner quality (gapper sizes + volume) is the diagnostic tool.</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A855F7"/>
          </a:solidFill>
          <a:ln w="12700">
            <a:solidFill>
              <a:srgbClr val="A855F7"/>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MKTCOND-002</a:t>
            </a:r>
            <a:endParaRPr lang="en-US" sz="1000" dirty="0"/>
          </a:p>
        </p:txBody>
      </p:sp>
      <p:sp>
        <p:nvSpPr>
          <p:cNvPr id="4" name="Shape 2"/>
          <p:cNvSpPr/>
          <p:nvPr/>
        </p:nvSpPr>
        <p:spPr>
          <a:xfrm>
            <a:off x="256032" y="475488"/>
            <a:ext cx="1417320" cy="256032"/>
          </a:xfrm>
          <a:prstGeom prst="roundRect">
            <a:avLst>
              <a:gd name="adj" fmla="val 17857"/>
            </a:avLst>
          </a:prstGeom>
          <a:solidFill>
            <a:srgbClr val="A855F7">
              <a:alpha val="20000"/>
            </a:srgbClr>
          </a:solidFill>
          <a:ln w="19050">
            <a:solidFill>
              <a:srgbClr val="A855F7"/>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A855F7"/>
                </a:solidFill>
              </a:rPr>
              <a:t>MKT CONDITIONS</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Leading Gapper Quality = Morning Market Temperature Check</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Every morning, the top 3–5 stocks on the gap scanner are the diagnostic. Key questions: What % are they up? What are their floats? Is there news? 30–45% leading gapper = cold day. 80–160%+ with news + low float = hot day.</a:t>
            </a:r>
            <a:endParaRPr lang="en-US" sz="1350" dirty="0"/>
          </a:p>
        </p:txBody>
      </p:sp>
      <p:sp>
        <p:nvSpPr>
          <p:cNvPr id="16" name="Shape 14"/>
          <p:cNvSpPr/>
          <p:nvPr/>
        </p:nvSpPr>
        <p:spPr>
          <a:xfrm>
            <a:off x="256032" y="2743200"/>
            <a:ext cx="45720" cy="777240"/>
          </a:xfrm>
          <a:prstGeom prst="rect">
            <a:avLst/>
          </a:prstGeom>
          <a:solidFill>
            <a:srgbClr val="A855F7"/>
          </a:solidFill>
          <a:ln w="12700">
            <a:solidFill>
              <a:srgbClr val="A855F7"/>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"I'll be looking at the top five gainers and I'll be asking myself: what are the floats? Are they lower float? What's the volume? Do they have news?"</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A855F7"/>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 100% gapper on a $0.50 stock is not the same as a 50% gapper on a $5 stock. Dollar move potential = price × percentage.</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4B8A6"/>
          </a:solidFill>
          <a:ln w="12700">
            <a:solidFill>
              <a:srgbClr val="14B8A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TIMING-001</a:t>
            </a:r>
            <a:endParaRPr lang="en-US" sz="1000" dirty="0"/>
          </a:p>
        </p:txBody>
      </p:sp>
      <p:sp>
        <p:nvSpPr>
          <p:cNvPr id="4" name="Shape 2"/>
          <p:cNvSpPr/>
          <p:nvPr/>
        </p:nvSpPr>
        <p:spPr>
          <a:xfrm>
            <a:off x="256032" y="475488"/>
            <a:ext cx="1417320" cy="256032"/>
          </a:xfrm>
          <a:prstGeom prst="roundRect">
            <a:avLst>
              <a:gd name="adj" fmla="val 17857"/>
            </a:avLst>
          </a:prstGeom>
          <a:solidFill>
            <a:srgbClr val="14B8A6">
              <a:alpha val="20000"/>
            </a:srgbClr>
          </a:solidFill>
          <a:ln w="19050">
            <a:solidFill>
              <a:srgbClr val="14B8A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4B8A6"/>
                </a:solidFill>
              </a:rPr>
              <a:t>TIMING</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7:00am–9:30am = Primary Watch and Scanner Window</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Ross starts watching the scanner before getting out of bed (~6:45–7am). Pre-market provides early momentum trades and setup formation. The 9:30am open is when primary trading begins.</a:t>
            </a:r>
            <a:endParaRPr lang="en-US" sz="1350" dirty="0"/>
          </a:p>
        </p:txBody>
      </p:sp>
      <p:sp>
        <p:nvSpPr>
          <p:cNvPr id="16" name="Shape 14"/>
          <p:cNvSpPr/>
          <p:nvPr/>
        </p:nvSpPr>
        <p:spPr>
          <a:xfrm>
            <a:off x="256032" y="2743200"/>
            <a:ext cx="45720" cy="777240"/>
          </a:xfrm>
          <a:prstGeom prst="rect">
            <a:avLst/>
          </a:prstGeom>
          <a:solidFill>
            <a:srgbClr val="14B8A6"/>
          </a:solidFill>
          <a:ln w="12700">
            <a:solidFill>
              <a:srgbClr val="14B8A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"The first thing I'll check even before I get out of bed on my phone is the top gainer scanner."</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4B8A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Pre-market trades carry wider spreads and larger slippage. Ross does trade pre-market on strong moves but notes execution is harder than regular hours.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4B8A6"/>
          </a:solidFill>
          <a:ln w="12700">
            <a:solidFill>
              <a:srgbClr val="14B8A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TIMING-002</a:t>
            </a:r>
            <a:endParaRPr lang="en-US" sz="1000" dirty="0"/>
          </a:p>
        </p:txBody>
      </p:sp>
      <p:sp>
        <p:nvSpPr>
          <p:cNvPr id="4" name="Shape 2"/>
          <p:cNvSpPr/>
          <p:nvPr/>
        </p:nvSpPr>
        <p:spPr>
          <a:xfrm>
            <a:off x="256032" y="475488"/>
            <a:ext cx="1417320" cy="256032"/>
          </a:xfrm>
          <a:prstGeom prst="roundRect">
            <a:avLst>
              <a:gd name="adj" fmla="val 17857"/>
            </a:avLst>
          </a:prstGeom>
          <a:solidFill>
            <a:srgbClr val="14B8A6">
              <a:alpha val="20000"/>
            </a:srgbClr>
          </a:solidFill>
          <a:ln w="19050">
            <a:solidFill>
              <a:srgbClr val="14B8A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4B8A6"/>
                </a:solidFill>
              </a:rPr>
              <a:t>TIMING</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Opening Range (9:30–10:30am) = Highest-Quality Trading Window</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The first 30–60 minutes after the open is when volume is highest, catalysts play out most cleanly, and gap-and-go setups are most effective. This is the primary trading window.</a:t>
            </a:r>
            <a:endParaRPr lang="en-US" sz="1350" dirty="0"/>
          </a:p>
        </p:txBody>
      </p:sp>
      <p:sp>
        <p:nvSpPr>
          <p:cNvPr id="16" name="Shape 14"/>
          <p:cNvSpPr/>
          <p:nvPr/>
        </p:nvSpPr>
        <p:spPr>
          <a:xfrm>
            <a:off x="256032" y="2743200"/>
            <a:ext cx="45720" cy="777240"/>
          </a:xfrm>
          <a:prstGeom prst="rect">
            <a:avLst/>
          </a:prstGeom>
          <a:solidFill>
            <a:srgbClr val="14B8A6"/>
          </a:solidFill>
          <a:ln w="12700">
            <a:solidFill>
              <a:srgbClr val="14B8A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"The window today is probably up until about 10:30–11:00am for morning momentum."</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4B8A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Strong breaking news can create momentum windows at any time. But statistically, the first 60 minutes is the most reliable and highest-quality period.</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4B8A6"/>
          </a:solidFill>
          <a:ln w="12700">
            <a:solidFill>
              <a:srgbClr val="14B8A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TIMING-004</a:t>
            </a:r>
            <a:endParaRPr lang="en-US" sz="1000" dirty="0"/>
          </a:p>
        </p:txBody>
      </p:sp>
      <p:sp>
        <p:nvSpPr>
          <p:cNvPr id="4" name="Shape 2"/>
          <p:cNvSpPr/>
          <p:nvPr/>
        </p:nvSpPr>
        <p:spPr>
          <a:xfrm>
            <a:off x="256032" y="475488"/>
            <a:ext cx="1417320" cy="256032"/>
          </a:xfrm>
          <a:prstGeom prst="roundRect">
            <a:avLst>
              <a:gd name="adj" fmla="val 17857"/>
            </a:avLst>
          </a:prstGeom>
          <a:solidFill>
            <a:srgbClr val="14B8A6">
              <a:alpha val="20000"/>
            </a:srgbClr>
          </a:solidFill>
          <a:ln w="19050">
            <a:solidFill>
              <a:srgbClr val="14B8A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4B8A6"/>
                </a:solidFill>
              </a:rPr>
              <a:t>TIMING</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F59E0B"/>
          </a:solidFill>
          <a:ln w="12700">
            <a:solidFill>
              <a:srgbClr val="F59E0B"/>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No-Trade Days Are Acceptable — Don't Force Bad Setups</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On days where no quality setups exist (cheap gappers, no news, choppy market), the correct decision is to not trade at all. A no-trade day is explicitly better than a forced-trade red day.</a:t>
            </a:r>
            <a:endParaRPr lang="en-US" sz="1350" dirty="0"/>
          </a:p>
        </p:txBody>
      </p:sp>
      <p:sp>
        <p:nvSpPr>
          <p:cNvPr id="16" name="Shape 14"/>
          <p:cNvSpPr/>
          <p:nvPr/>
        </p:nvSpPr>
        <p:spPr>
          <a:xfrm>
            <a:off x="256032" y="2743200"/>
            <a:ext cx="45720" cy="777240"/>
          </a:xfrm>
          <a:prstGeom prst="rect">
            <a:avLst/>
          </a:prstGeom>
          <a:solidFill>
            <a:srgbClr val="14B8A6"/>
          </a:solidFill>
          <a:ln w="12700">
            <a:solidFill>
              <a:srgbClr val="14B8A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"If there's no gappers there's going to be no trades."</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4B8A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The hardest discipline is recognizing a no-trade day early and not second-guessing it at 10am when something mediocre pops up.</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E38"/>
        </a:solidFill>
      </p:bgPr>
    </p:bg>
    <p:spTree>
      <p:nvGrpSpPr>
        <p:cNvPr id="1" name=""/>
        <p:cNvGrpSpPr/>
        <p:nvPr/>
      </p:nvGrpSpPr>
      <p:grpSpPr>
        <a:xfrm>
          <a:off x="0" y="0"/>
          <a:ext cx="0" cy="0"/>
          <a:chOff x="0" y="0"/>
          <a:chExt cx="0" cy="0"/>
        </a:xfrm>
      </p:grpSpPr>
      <p:sp>
        <p:nvSpPr>
          <p:cNvPr id="2" name="Text 0"/>
          <p:cNvSpPr/>
          <p:nvPr/>
        </p:nvSpPr>
        <p:spPr>
          <a:xfrm>
            <a:off x="0" y="365760"/>
            <a:ext cx="9144000" cy="3200400"/>
          </a:xfrm>
          <a:prstGeom prst="rect">
            <a:avLst/>
          </a:prstGeom>
          <a:noFill/>
          <a:ln/>
        </p:spPr>
        <p:txBody>
          <a:bodyPr wrap="square" rtlCol="0" anchor="ctr"/>
          <a:lstStyle/>
          <a:p>
            <a:pPr algn="ctr" indent="0" marL="0">
              <a:buNone/>
            </a:pPr>
            <a:r>
              <a:rPr lang="en-US" sz="22000" b="1" dirty="0">
                <a:solidFill>
                  <a:srgbClr val="3B82F6">
                    <a:alpha val="15000"/>
                  </a:srgbClr>
                </a:solidFill>
                <a:latin typeface="Calibri" pitchFamily="34" charset="0"/>
                <a:ea typeface="Calibri" pitchFamily="34" charset="-122"/>
                <a:cs typeface="Calibri" pitchFamily="34" charset="-120"/>
              </a:rPr>
              <a:t>4</a:t>
            </a:r>
            <a:endParaRPr lang="en-US" sz="22000" dirty="0"/>
          </a:p>
        </p:txBody>
      </p:sp>
      <p:sp>
        <p:nvSpPr>
          <p:cNvPr id="3" name="Text 1"/>
          <p:cNvSpPr/>
          <p:nvPr/>
        </p:nvSpPr>
        <p:spPr>
          <a:xfrm>
            <a:off x="548640" y="1463040"/>
            <a:ext cx="8046720" cy="731520"/>
          </a:xfrm>
          <a:prstGeom prst="rect">
            <a:avLst/>
          </a:prstGeom>
          <a:noFill/>
          <a:ln/>
        </p:spPr>
        <p:txBody>
          <a:bodyPr wrap="square" rtlCol="0" anchor="ctr"/>
          <a:lstStyle/>
          <a:p>
            <a:pPr algn="ctr" indent="0" marL="0">
              <a:buNone/>
            </a:pPr>
            <a:r>
              <a:rPr lang="en-US" sz="3600" b="1" spc="800" kern="0" dirty="0">
                <a:solidFill>
                  <a:srgbClr val="3B82F6"/>
                </a:solidFill>
                <a:latin typeface="Calibri" pitchFamily="34" charset="0"/>
                <a:ea typeface="Calibri" pitchFamily="34" charset="-122"/>
                <a:cs typeface="Calibri" pitchFamily="34" charset="-120"/>
              </a:rPr>
              <a:t>CONFIDENCE 4</a:t>
            </a:r>
            <a:endParaRPr lang="en-US" sz="3600" dirty="0"/>
          </a:p>
        </p:txBody>
      </p:sp>
      <p:sp>
        <p:nvSpPr>
          <p:cNvPr id="4" name="Text 2"/>
          <p:cNvSpPr/>
          <p:nvPr/>
        </p:nvSpPr>
        <p:spPr>
          <a:xfrm>
            <a:off x="1371600" y="2377440"/>
            <a:ext cx="6400800" cy="548640"/>
          </a:xfrm>
          <a:prstGeom prst="rect">
            <a:avLst/>
          </a:prstGeom>
          <a:noFill/>
          <a:ln/>
        </p:spPr>
        <p:txBody>
          <a:bodyPr wrap="square"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CONFIDENCE 4  —  Stated clearly at least once with direct reasoning. High confidence.</a:t>
            </a:r>
            <a:endParaRPr lang="en-US" sz="1300" dirty="0"/>
          </a:p>
        </p:txBody>
      </p:sp>
      <p:sp>
        <p:nvSpPr>
          <p:cNvPr id="5" name="Text 3"/>
          <p:cNvSpPr/>
          <p:nvPr/>
        </p:nvSpPr>
        <p:spPr>
          <a:xfrm>
            <a:off x="1371600" y="3200400"/>
            <a:ext cx="6400800" cy="365760"/>
          </a:xfrm>
          <a:prstGeom prst="rect">
            <a:avLst/>
          </a:prstGeom>
          <a:noFill/>
          <a:ln/>
        </p:spPr>
        <p:txBody>
          <a:bodyPr wrap="square"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15 rules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0B981"/>
          </a:solidFill>
          <a:ln w="12700">
            <a:solidFill>
              <a:srgbClr val="10B981"/>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SCRN-007</a:t>
            </a:r>
            <a:endParaRPr lang="en-US" sz="1000" dirty="0"/>
          </a:p>
        </p:txBody>
      </p:sp>
      <p:sp>
        <p:nvSpPr>
          <p:cNvPr id="4" name="Shape 2"/>
          <p:cNvSpPr/>
          <p:nvPr/>
        </p:nvSpPr>
        <p:spPr>
          <a:xfrm>
            <a:off x="256032" y="475488"/>
            <a:ext cx="1417320" cy="256032"/>
          </a:xfrm>
          <a:prstGeom prst="roundRect">
            <a:avLst>
              <a:gd name="adj" fmla="val 17857"/>
            </a:avLst>
          </a:prstGeom>
          <a:solidFill>
            <a:srgbClr val="10B981">
              <a:alpha val="20000"/>
            </a:srgbClr>
          </a:solidFill>
          <a:ln w="19050">
            <a:solidFill>
              <a:srgbClr val="10B981"/>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0B981"/>
                </a:solidFill>
              </a:rPr>
              <a:t>PRE-SCREEN</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Foreign-Listed Stocks = Wildcard — Lower Trust, Smaller Size</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Chinese, Malaysian, Hong Kong, and Israeli-listed small caps can meet all quantitative pillars but lack a clear fundamental reason for the move. Trade with reduced size and lower trust.</a:t>
            </a:r>
            <a:endParaRPr lang="en-US" sz="1350" dirty="0"/>
          </a:p>
        </p:txBody>
      </p:sp>
      <p:sp>
        <p:nvSpPr>
          <p:cNvPr id="16" name="Shape 14"/>
          <p:cNvSpPr/>
          <p:nvPr/>
        </p:nvSpPr>
        <p:spPr>
          <a:xfrm>
            <a:off x="256032" y="2743200"/>
            <a:ext cx="45720" cy="777240"/>
          </a:xfrm>
          <a:prstGeom prst="rect">
            <a:avLst/>
          </a:prstGeom>
          <a:solidFill>
            <a:srgbClr val="10B981"/>
          </a:solidFill>
          <a:ln w="12700">
            <a:solidFill>
              <a:srgbClr val="10B981"/>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"If they're no-news stocks and/or they're Chinese stocks by default, they're going to be a little bit harder to trust."</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In certain market phases, foreign-listed stocks outperform US-listed. They 'meet 4/5 pillars' — they miss the news/catalyst pillar. Trade cautiously, don't fully ignore.</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0B981"/>
          </a:solidFill>
          <a:ln w="12700">
            <a:solidFill>
              <a:srgbClr val="10B981"/>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SCRN-008</a:t>
            </a:r>
            <a:endParaRPr lang="en-US" sz="1000" dirty="0"/>
          </a:p>
        </p:txBody>
      </p:sp>
      <p:sp>
        <p:nvSpPr>
          <p:cNvPr id="4" name="Shape 2"/>
          <p:cNvSpPr/>
          <p:nvPr/>
        </p:nvSpPr>
        <p:spPr>
          <a:xfrm>
            <a:off x="256032" y="475488"/>
            <a:ext cx="1417320" cy="256032"/>
          </a:xfrm>
          <a:prstGeom prst="roundRect">
            <a:avLst>
              <a:gd name="adj" fmla="val 17857"/>
            </a:avLst>
          </a:prstGeom>
          <a:solidFill>
            <a:srgbClr val="10B981">
              <a:alpha val="20000"/>
            </a:srgbClr>
          </a:solidFill>
          <a:ln w="19050">
            <a:solidFill>
              <a:srgbClr val="10B981"/>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0B981"/>
                </a:solidFill>
              </a:rPr>
              <a:t>PRE-SCREEN</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Sector Theme Alignment Boosts Trade Quality</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When a macro catalyst is active (Middle East conflict → energy, defense news → military contractors), stocks aligning with that theme are higher quality at the same technical setup. Theme alignment increases probability of broad participation.</a:t>
            </a:r>
            <a:endParaRPr lang="en-US" sz="1350" dirty="0"/>
          </a:p>
        </p:txBody>
      </p:sp>
      <p:sp>
        <p:nvSpPr>
          <p:cNvPr id="16" name="Shape 14"/>
          <p:cNvSpPr/>
          <p:nvPr/>
        </p:nvSpPr>
        <p:spPr>
          <a:xfrm>
            <a:off x="256032" y="2743200"/>
            <a:ext cx="45720" cy="777240"/>
          </a:xfrm>
          <a:prstGeom prst="rect">
            <a:avLst/>
          </a:prstGeom>
          <a:solidFill>
            <a:srgbClr val="10B981"/>
          </a:solidFill>
          <a:ln w="12700">
            <a:solidFill>
              <a:srgbClr val="10B981"/>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"There's a bigger theme at play... if it were one of the two [energy or defense], I wouldn't be surprised by that at all."</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Theme alignment doesn't override the other pillars. A defense stock with a 50M float is still a pass. It boosts a marginal setup — it doesn't fix a bad one.</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0B981"/>
          </a:solidFill>
          <a:ln w="12700">
            <a:solidFill>
              <a:srgbClr val="10B981"/>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SCRN-009</a:t>
            </a:r>
            <a:endParaRPr lang="en-US" sz="1000" dirty="0"/>
          </a:p>
        </p:txBody>
      </p:sp>
      <p:sp>
        <p:nvSpPr>
          <p:cNvPr id="4" name="Shape 2"/>
          <p:cNvSpPr/>
          <p:nvPr/>
        </p:nvSpPr>
        <p:spPr>
          <a:xfrm>
            <a:off x="256032" y="475488"/>
            <a:ext cx="1417320" cy="256032"/>
          </a:xfrm>
          <a:prstGeom prst="roundRect">
            <a:avLst>
              <a:gd name="adj" fmla="val 17857"/>
            </a:avLst>
          </a:prstGeom>
          <a:solidFill>
            <a:srgbClr val="10B981">
              <a:alpha val="20000"/>
            </a:srgbClr>
          </a:solidFill>
          <a:ln w="19050">
            <a:solidFill>
              <a:srgbClr val="10B981"/>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0B981"/>
                </a:solidFill>
              </a:rPr>
              <a:t>PRE-SCREEN</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Short Interest + Hard-to-Borrow = Squeeze Amplifier</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High short interest + rising price creates squeeze potential. Hard-to-borrow = fewer shorts can add = bigger squeeze. Easy-to-borrow = more shorts pile on = more resistance and chop.</a:t>
            </a:r>
            <a:endParaRPr lang="en-US" sz="1350" dirty="0"/>
          </a:p>
        </p:txBody>
      </p:sp>
      <p:sp>
        <p:nvSpPr>
          <p:cNvPr id="16" name="Shape 14"/>
          <p:cNvSpPr/>
          <p:nvPr/>
        </p:nvSpPr>
        <p:spPr>
          <a:xfrm>
            <a:off x="256032" y="2743200"/>
            <a:ext cx="45720" cy="777240"/>
          </a:xfrm>
          <a:prstGeom prst="rect">
            <a:avLst/>
          </a:prstGeom>
          <a:solidFill>
            <a:srgbClr val="10B981"/>
          </a:solidFill>
          <a:ln w="12700">
            <a:solidFill>
              <a:srgbClr val="10B981"/>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"The cost to borrow BATL is up 447%. Utilization is at 73%. A perfect storm squeeze."</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Short interest alone isn't sufficient. Needs the other pillars too. High CTB + low float + news = the ideal squeeze setup.</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3B82F6"/>
          </a:solidFill>
          <a:ln w="12700">
            <a:solidFill>
              <a:srgbClr val="3B82F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ENTR-006</a:t>
            </a:r>
            <a:endParaRPr lang="en-US" sz="1000" dirty="0"/>
          </a:p>
        </p:txBody>
      </p:sp>
      <p:sp>
        <p:nvSpPr>
          <p:cNvPr id="4" name="Shape 2"/>
          <p:cNvSpPr/>
          <p:nvPr/>
        </p:nvSpPr>
        <p:spPr>
          <a:xfrm>
            <a:off x="256032" y="475488"/>
            <a:ext cx="1417320" cy="256032"/>
          </a:xfrm>
          <a:prstGeom prst="roundRect">
            <a:avLst>
              <a:gd name="adj" fmla="val 17857"/>
            </a:avLst>
          </a:prstGeom>
          <a:solidFill>
            <a:srgbClr val="3B82F6">
              <a:alpha val="20000"/>
            </a:srgbClr>
          </a:solidFill>
          <a:ln w="19050">
            <a:solidFill>
              <a:srgbClr val="3B82F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3B82F6"/>
                </a:solidFill>
              </a:rPr>
              <a:t>ENTRY</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5-Minute Bull Flag / Consolidation Breakout</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After a big initial move, if the stock consolidates in a tight range on the 5-minute chart (high volume on the pole, declining volume on the flag), breakout above the flag top is a valid entry with better risk-reward than chasing the pole.</a:t>
            </a:r>
            <a:endParaRPr lang="en-US" sz="1350" dirty="0"/>
          </a:p>
        </p:txBody>
      </p:sp>
      <p:sp>
        <p:nvSpPr>
          <p:cNvPr id="16" name="Shape 14"/>
          <p:cNvSpPr/>
          <p:nvPr/>
        </p:nvSpPr>
        <p:spPr>
          <a:xfrm>
            <a:off x="256032" y="2743200"/>
            <a:ext cx="45720" cy="777240"/>
          </a:xfrm>
          <a:prstGeom prst="rect">
            <a:avLst/>
          </a:prstGeom>
          <a:solidFill>
            <a:srgbClr val="3B82F6"/>
          </a:solidFill>
          <a:ln w="12700">
            <a:solidFill>
              <a:srgbClr val="3B82F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"A five minute pullback setup here."</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3B82F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Requires at least 2–3 consolidating candles after the spike. A single pullback candle is a micro pullback, not a flag. Flag should show declining volume.</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3B82F6"/>
          </a:solidFill>
          <a:ln w="12700">
            <a:solidFill>
              <a:srgbClr val="3B82F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ENTR-007</a:t>
            </a:r>
            <a:endParaRPr lang="en-US" sz="1000" dirty="0"/>
          </a:p>
        </p:txBody>
      </p:sp>
      <p:sp>
        <p:nvSpPr>
          <p:cNvPr id="4" name="Shape 2"/>
          <p:cNvSpPr/>
          <p:nvPr/>
        </p:nvSpPr>
        <p:spPr>
          <a:xfrm>
            <a:off x="256032" y="475488"/>
            <a:ext cx="1417320" cy="256032"/>
          </a:xfrm>
          <a:prstGeom prst="roundRect">
            <a:avLst>
              <a:gd name="adj" fmla="val 17857"/>
            </a:avLst>
          </a:prstGeom>
          <a:solidFill>
            <a:srgbClr val="3B82F6">
              <a:alpha val="20000"/>
            </a:srgbClr>
          </a:solidFill>
          <a:ln w="19050">
            <a:solidFill>
              <a:srgbClr val="3B82F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3B82F6"/>
                </a:solidFill>
              </a:rPr>
              <a:t>ENTRY</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Large Spoofed Sell Wall = Ignore; Signals Trapped Shorts</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When a large Level 2 sell order continuously reprices away from the current bid/ask (moves up as price moves up, never executes), it's order spoofing. The 'seller' is already short and trying to scare longs. Correct response: ignore the wall, the squeeze potential is higher.</a:t>
            </a:r>
            <a:endParaRPr lang="en-US" sz="1350" dirty="0"/>
          </a:p>
        </p:txBody>
      </p:sp>
      <p:sp>
        <p:nvSpPr>
          <p:cNvPr id="16" name="Shape 14"/>
          <p:cNvSpPr/>
          <p:nvPr/>
        </p:nvSpPr>
        <p:spPr>
          <a:xfrm>
            <a:off x="256032" y="2743200"/>
            <a:ext cx="45720" cy="777240"/>
          </a:xfrm>
          <a:prstGeom prst="rect">
            <a:avLst/>
          </a:prstGeom>
          <a:solidFill>
            <a:srgbClr val="3B82F6"/>
          </a:solidFill>
          <a:ln w="12700">
            <a:solidFill>
              <a:srgbClr val="3B82F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"It'll never execute. It'll never get filled... They want us to be scared because they're already short the stock."</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3B82F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 real large seller holds at a fixed price or lowers it into the market. A spoofer moves the order up with price to perpetually avoid execution.</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3B82F6"/>
          </a:solidFill>
          <a:ln w="12700">
            <a:solidFill>
              <a:srgbClr val="3B82F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ENTR-008</a:t>
            </a:r>
            <a:endParaRPr lang="en-US" sz="1000" dirty="0"/>
          </a:p>
        </p:txBody>
      </p:sp>
      <p:sp>
        <p:nvSpPr>
          <p:cNvPr id="4" name="Shape 2"/>
          <p:cNvSpPr/>
          <p:nvPr/>
        </p:nvSpPr>
        <p:spPr>
          <a:xfrm>
            <a:off x="256032" y="475488"/>
            <a:ext cx="1417320" cy="256032"/>
          </a:xfrm>
          <a:prstGeom prst="roundRect">
            <a:avLst>
              <a:gd name="adj" fmla="val 17857"/>
            </a:avLst>
          </a:prstGeom>
          <a:solidFill>
            <a:srgbClr val="3B82F6">
              <a:alpha val="20000"/>
            </a:srgbClr>
          </a:solidFill>
          <a:ln w="19050">
            <a:solidFill>
              <a:srgbClr val="3B82F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3B82F6"/>
                </a:solidFill>
              </a:rPr>
              <a:t>ENTRY</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Double Bottom = Entry Trigger</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When a stock tests the same low twice and holds (forming a 'W' pattern), the break above the mid-point of the W is a long entry trigger. Used as a dip-buying entry within an uptrend.</a:t>
            </a:r>
            <a:endParaRPr lang="en-US" sz="1350" dirty="0"/>
          </a:p>
        </p:txBody>
      </p:sp>
      <p:sp>
        <p:nvSpPr>
          <p:cNvPr id="16" name="Shape 14"/>
          <p:cNvSpPr/>
          <p:nvPr/>
        </p:nvSpPr>
        <p:spPr>
          <a:xfrm>
            <a:off x="256032" y="2743200"/>
            <a:ext cx="45720" cy="777240"/>
          </a:xfrm>
          <a:prstGeom prst="rect">
            <a:avLst/>
          </a:prstGeom>
          <a:solidFill>
            <a:srgbClr val="3B82F6"/>
          </a:solidFill>
          <a:ln w="12700">
            <a:solidFill>
              <a:srgbClr val="3B82F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"Double bottom off of 187, break of 203, squeeze back to the high."</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3B82F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Must be on a stock still above VWAP with a positive (or at least neutral) MACD. A double bottom below VWAP in a downtrend is not a valid setup.</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EF4444"/>
          </a:solidFill>
          <a:ln w="12700">
            <a:solidFill>
              <a:srgbClr val="EF4444"/>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STOP-002</a:t>
            </a:r>
            <a:endParaRPr lang="en-US" sz="1000" dirty="0"/>
          </a:p>
        </p:txBody>
      </p:sp>
      <p:sp>
        <p:nvSpPr>
          <p:cNvPr id="4" name="Shape 2"/>
          <p:cNvSpPr/>
          <p:nvPr/>
        </p:nvSpPr>
        <p:spPr>
          <a:xfrm>
            <a:off x="256032" y="475488"/>
            <a:ext cx="1417320" cy="256032"/>
          </a:xfrm>
          <a:prstGeom prst="roundRect">
            <a:avLst>
              <a:gd name="adj" fmla="val 17857"/>
            </a:avLst>
          </a:prstGeom>
          <a:solidFill>
            <a:srgbClr val="EF4444">
              <a:alpha val="20000"/>
            </a:srgbClr>
          </a:solidFill>
          <a:ln w="19050">
            <a:solidFill>
              <a:srgbClr val="EF4444"/>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EF4444"/>
                </a:solidFill>
              </a:rPr>
              <a:t>STOP-LOSS</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9 EMA Crossing Below 20 EMA = Downtrend Confirmation</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On the 1-minute chart, when the 9-period EMA crosses below the 20-period EMA, this confirms the stock has entered a downtrend. Used as exit confirmation for remaining position after MACD has already warned.</a:t>
            </a:r>
            <a:endParaRPr lang="en-US" sz="1350" dirty="0"/>
          </a:p>
        </p:txBody>
      </p:sp>
      <p:sp>
        <p:nvSpPr>
          <p:cNvPr id="16" name="Shape 14"/>
          <p:cNvSpPr/>
          <p:nvPr/>
        </p:nvSpPr>
        <p:spPr>
          <a:xfrm>
            <a:off x="256032" y="2743200"/>
            <a:ext cx="45720" cy="777240"/>
          </a:xfrm>
          <a:prstGeom prst="rect">
            <a:avLst/>
          </a:prstGeom>
          <a:solidFill>
            <a:srgbClr val="EF4444"/>
          </a:solidFill>
          <a:ln w="12700">
            <a:solidFill>
              <a:srgbClr val="EF4444"/>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"Nine crossed below the 20 on the one minute — that's a downtrend."</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The 9/20 cross is lagging vs MACD (which is more leading). Use MACD as the first warning, 9/20 cross as confirmation to exit the remainder.</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EF4444"/>
          </a:solidFill>
          <a:ln w="12700">
            <a:solidFill>
              <a:srgbClr val="EF4444"/>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STOP-004</a:t>
            </a:r>
            <a:endParaRPr lang="en-US" sz="1000" dirty="0"/>
          </a:p>
        </p:txBody>
      </p:sp>
      <p:sp>
        <p:nvSpPr>
          <p:cNvPr id="4" name="Shape 2"/>
          <p:cNvSpPr/>
          <p:nvPr/>
        </p:nvSpPr>
        <p:spPr>
          <a:xfrm>
            <a:off x="256032" y="475488"/>
            <a:ext cx="1417320" cy="256032"/>
          </a:xfrm>
          <a:prstGeom prst="roundRect">
            <a:avLst>
              <a:gd name="adj" fmla="val 17857"/>
            </a:avLst>
          </a:prstGeom>
          <a:solidFill>
            <a:srgbClr val="EF4444">
              <a:alpha val="20000"/>
            </a:srgbClr>
          </a:solidFill>
          <a:ln w="19050">
            <a:solidFill>
              <a:srgbClr val="EF4444"/>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EF4444"/>
                </a:solidFill>
              </a:rPr>
              <a:t>STOP-LOSS</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Give Back ~30% from Peak = Soft Walk-Away Signal</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On a big green day, once daily P&amp;L has pulled back ~25–30% from the intraday peak, that's the typical comfortable walk-away level. Softer than the 50% hard stop — usually sufficient to trigger the decision to stop.</a:t>
            </a:r>
            <a:endParaRPr lang="en-US" sz="1350" dirty="0"/>
          </a:p>
        </p:txBody>
      </p:sp>
      <p:sp>
        <p:nvSpPr>
          <p:cNvPr id="16" name="Shape 14"/>
          <p:cNvSpPr/>
          <p:nvPr/>
        </p:nvSpPr>
        <p:spPr>
          <a:xfrm>
            <a:off x="256032" y="2743200"/>
            <a:ext cx="45720" cy="777240"/>
          </a:xfrm>
          <a:prstGeom prst="rect">
            <a:avLst/>
          </a:prstGeom>
          <a:solidFill>
            <a:srgbClr val="EF4444"/>
          </a:solidFill>
          <a:ln w="12700">
            <a:solidFill>
              <a:srgbClr val="EF4444"/>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 peaked at 72,000. Gave back about a third... And I said that's it."</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Ross sometimes continues past 30% if setup quality is still high. The 30% is a soft signal. The 50% is the hard rule. They bracket the walk-away decision.</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EF4444"/>
          </a:solidFill>
          <a:ln w="12700">
            <a:solidFill>
              <a:srgbClr val="EF4444"/>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STOP-005</a:t>
            </a:r>
            <a:endParaRPr lang="en-US" sz="1000" dirty="0"/>
          </a:p>
        </p:txBody>
      </p:sp>
      <p:sp>
        <p:nvSpPr>
          <p:cNvPr id="4" name="Shape 2"/>
          <p:cNvSpPr/>
          <p:nvPr/>
        </p:nvSpPr>
        <p:spPr>
          <a:xfrm>
            <a:off x="256032" y="475488"/>
            <a:ext cx="1417320" cy="256032"/>
          </a:xfrm>
          <a:prstGeom prst="roundRect">
            <a:avLst>
              <a:gd name="adj" fmla="val 17857"/>
            </a:avLst>
          </a:prstGeom>
          <a:solidFill>
            <a:srgbClr val="EF4444">
              <a:alpha val="20000"/>
            </a:srgbClr>
          </a:solidFill>
          <a:ln w="19050">
            <a:solidFill>
              <a:srgbClr val="EF4444"/>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EF4444"/>
                </a:solidFill>
              </a:rPr>
              <a:t>STOP-LOSS</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Stock Retraces &gt;50% of Its Move = No Longer In Play</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If a stock pulls back more than 50% of its intraday move, it has lost its momentum and should be removed from the active watch list. The setup has failed.</a:t>
            </a:r>
            <a:endParaRPr lang="en-US" sz="1350" dirty="0"/>
          </a:p>
        </p:txBody>
      </p:sp>
      <p:sp>
        <p:nvSpPr>
          <p:cNvPr id="16" name="Shape 14"/>
          <p:cNvSpPr/>
          <p:nvPr/>
        </p:nvSpPr>
        <p:spPr>
          <a:xfrm>
            <a:off x="256032" y="2743200"/>
            <a:ext cx="45720" cy="777240"/>
          </a:xfrm>
          <a:prstGeom prst="rect">
            <a:avLst/>
          </a:prstGeom>
          <a:solidFill>
            <a:srgbClr val="EF4444"/>
          </a:solidFill>
          <a:ln w="12700">
            <a:solidFill>
              <a:srgbClr val="EF4444"/>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"Stock retraced more than 50% of the move — no longer in play."</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 50%+ retrace can lead to a washout-bottom bounce, but this is lower-probability and requires fresh evidence before re-entry.</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EF4444"/>
          </a:solidFill>
          <a:ln w="12700">
            <a:solidFill>
              <a:srgbClr val="EF4444"/>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STOP-006</a:t>
            </a:r>
            <a:endParaRPr lang="en-US" sz="1000" dirty="0"/>
          </a:p>
        </p:txBody>
      </p:sp>
      <p:sp>
        <p:nvSpPr>
          <p:cNvPr id="4" name="Shape 2"/>
          <p:cNvSpPr/>
          <p:nvPr/>
        </p:nvSpPr>
        <p:spPr>
          <a:xfrm>
            <a:off x="256032" y="475488"/>
            <a:ext cx="1417320" cy="256032"/>
          </a:xfrm>
          <a:prstGeom prst="roundRect">
            <a:avLst>
              <a:gd name="adj" fmla="val 17857"/>
            </a:avLst>
          </a:prstGeom>
          <a:solidFill>
            <a:srgbClr val="EF4444">
              <a:alpha val="20000"/>
            </a:srgbClr>
          </a:solidFill>
          <a:ln w="19050">
            <a:solidFill>
              <a:srgbClr val="EF4444"/>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EF4444"/>
                </a:solidFill>
              </a:rPr>
              <a:t>STOP-LOSS</a:t>
            </a:r>
            <a:endParaRPr lang="en-US" sz="800" dirty="0"/>
          </a:p>
        </p:txBody>
      </p:sp>
      <p:sp>
        <p:nvSpPr>
          <p:cNvPr id="6" name="Shape 4"/>
          <p:cNvSpPr/>
          <p:nvPr/>
        </p:nvSpPr>
        <p:spPr>
          <a:xfrm>
            <a:off x="1755648" y="475488"/>
            <a:ext cx="1188720" cy="256032"/>
          </a:xfrm>
          <a:prstGeom prst="roundRect">
            <a:avLst>
              <a:gd name="adj" fmla="val 17857"/>
            </a:avLst>
          </a:prstGeom>
          <a:solidFill>
            <a:srgbClr val="EF4444">
              <a:alpha val="20000"/>
            </a:srgbClr>
          </a:solidFill>
          <a:ln w="19050">
            <a:solidFill>
              <a:srgbClr val="EF4444"/>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EF4444"/>
                </a:solidFill>
              </a:rPr>
              <a:t>VETO</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Halt on Offering / Dilution News = Exit</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If a stock is halted and resumes with a secondary offering or private placement at a discount to market price, exit immediately on resume. Dilution news is bearish and compromises the upside thesis.</a:t>
            </a:r>
            <a:endParaRPr lang="en-US" sz="1350" dirty="0"/>
          </a:p>
        </p:txBody>
      </p:sp>
      <p:sp>
        <p:nvSpPr>
          <p:cNvPr id="16" name="Shape 14"/>
          <p:cNvSpPr/>
          <p:nvPr/>
        </p:nvSpPr>
        <p:spPr>
          <a:xfrm>
            <a:off x="256032" y="2743200"/>
            <a:ext cx="45720" cy="777240"/>
          </a:xfrm>
          <a:prstGeom prst="rect">
            <a:avLst/>
          </a:prstGeom>
          <a:solidFill>
            <a:srgbClr val="EF4444"/>
          </a:solidFill>
          <a:ln w="12700">
            <a:solidFill>
              <a:srgbClr val="EF4444"/>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"$15 million offering, private placement, but at $5 a share. That's pretty low." [exits position]</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 small at-market offering can sometimes be absorbed. The key danger signal is a large offering at a significant discount — that signals insider desperation.</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A855F7"/>
          </a:solidFill>
          <a:ln w="12700">
            <a:solidFill>
              <a:srgbClr val="A855F7"/>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MKTCOND-003</a:t>
            </a:r>
            <a:endParaRPr lang="en-US" sz="1000" dirty="0"/>
          </a:p>
        </p:txBody>
      </p:sp>
      <p:sp>
        <p:nvSpPr>
          <p:cNvPr id="4" name="Shape 2"/>
          <p:cNvSpPr/>
          <p:nvPr/>
        </p:nvSpPr>
        <p:spPr>
          <a:xfrm>
            <a:off x="256032" y="475488"/>
            <a:ext cx="1417320" cy="256032"/>
          </a:xfrm>
          <a:prstGeom prst="roundRect">
            <a:avLst>
              <a:gd name="adj" fmla="val 17857"/>
            </a:avLst>
          </a:prstGeom>
          <a:solidFill>
            <a:srgbClr val="A855F7">
              <a:alpha val="20000"/>
            </a:srgbClr>
          </a:solidFill>
          <a:ln w="19050">
            <a:solidFill>
              <a:srgbClr val="A855F7"/>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A855F7"/>
                </a:solidFill>
              </a:rPr>
              <a:t>MKT CONDITIONS</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Cheap Gappers (Sub-$1.50) Signal a Difficult Day</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When leading gappers are all priced below $1.50–$2.00, it signals a low-quality day. These stocks produce insufficient dollar range per trade, and price action is grindy rather than clean.</a:t>
            </a:r>
            <a:endParaRPr lang="en-US" sz="1350" dirty="0"/>
          </a:p>
        </p:txBody>
      </p:sp>
      <p:sp>
        <p:nvSpPr>
          <p:cNvPr id="16" name="Shape 14"/>
          <p:cNvSpPr/>
          <p:nvPr/>
        </p:nvSpPr>
        <p:spPr>
          <a:xfrm>
            <a:off x="256032" y="2743200"/>
            <a:ext cx="45720" cy="777240"/>
          </a:xfrm>
          <a:prstGeom prst="rect">
            <a:avLst/>
          </a:prstGeom>
          <a:solidFill>
            <a:srgbClr val="A855F7"/>
          </a:solidFill>
          <a:ln w="12700">
            <a:solidFill>
              <a:srgbClr val="A855F7"/>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"I'm hoping the attention isn't on the super cheap ones."</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A855F7"/>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Occasionally a penny stock makes a monster move. But when cheap stocks dominate the scanner, the correct response is to reduce trading activity significantly.</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A855F7"/>
          </a:solidFill>
          <a:ln w="12700">
            <a:solidFill>
              <a:srgbClr val="A855F7"/>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MKTCOND-004</a:t>
            </a:r>
            <a:endParaRPr lang="en-US" sz="1000" dirty="0"/>
          </a:p>
        </p:txBody>
      </p:sp>
      <p:sp>
        <p:nvSpPr>
          <p:cNvPr id="4" name="Shape 2"/>
          <p:cNvSpPr/>
          <p:nvPr/>
        </p:nvSpPr>
        <p:spPr>
          <a:xfrm>
            <a:off x="256032" y="475488"/>
            <a:ext cx="1417320" cy="256032"/>
          </a:xfrm>
          <a:prstGeom prst="roundRect">
            <a:avLst>
              <a:gd name="adj" fmla="val 17857"/>
            </a:avLst>
          </a:prstGeom>
          <a:solidFill>
            <a:srgbClr val="A855F7">
              <a:alpha val="20000"/>
            </a:srgbClr>
          </a:solidFill>
          <a:ln w="19050">
            <a:solidFill>
              <a:srgbClr val="A855F7"/>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A855F7"/>
                </a:solidFill>
              </a:rPr>
              <a:t>MKT CONDITIONS</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Overall Market (S&amp;P / IWM) Direction Is a Tailwind/Headwind</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A rising S&amp;P is a tailwind for small-cap momentum. A falling/gapping-down S&amp;P makes gap-and-go setups harder — fewer stocks gap up, volume concentrates in down moves.</a:t>
            </a:r>
            <a:endParaRPr lang="en-US" sz="1350" dirty="0"/>
          </a:p>
        </p:txBody>
      </p:sp>
      <p:sp>
        <p:nvSpPr>
          <p:cNvPr id="16" name="Shape 14"/>
          <p:cNvSpPr/>
          <p:nvPr/>
        </p:nvSpPr>
        <p:spPr>
          <a:xfrm>
            <a:off x="256032" y="2743200"/>
            <a:ext cx="45720" cy="777240"/>
          </a:xfrm>
          <a:prstGeom prst="rect">
            <a:avLst/>
          </a:prstGeom>
          <a:solidFill>
            <a:srgbClr val="A855F7"/>
          </a:solidFill>
          <a:ln w="12700">
            <a:solidFill>
              <a:srgbClr val="A855F7"/>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"Overall market is gapping down — that's not helping the small caps. It's a falling tide and things fall with it."</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A855F7"/>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Small caps with strong catalysts can buck the overall market. Market direction is a contextual factor — not an absolute veto — but worth tracking daily.</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A855F7"/>
          </a:solidFill>
          <a:ln w="12700">
            <a:solidFill>
              <a:srgbClr val="A855F7"/>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MKTCOND-005</a:t>
            </a:r>
            <a:endParaRPr lang="en-US" sz="1000" dirty="0"/>
          </a:p>
        </p:txBody>
      </p:sp>
      <p:sp>
        <p:nvSpPr>
          <p:cNvPr id="4" name="Shape 2"/>
          <p:cNvSpPr/>
          <p:nvPr/>
        </p:nvSpPr>
        <p:spPr>
          <a:xfrm>
            <a:off x="256032" y="475488"/>
            <a:ext cx="1417320" cy="256032"/>
          </a:xfrm>
          <a:prstGeom prst="roundRect">
            <a:avLst>
              <a:gd name="adj" fmla="val 17857"/>
            </a:avLst>
          </a:prstGeom>
          <a:solidFill>
            <a:srgbClr val="A855F7">
              <a:alpha val="20000"/>
            </a:srgbClr>
          </a:solidFill>
          <a:ln w="19050">
            <a:solidFill>
              <a:srgbClr val="A855F7"/>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A855F7"/>
                </a:solidFill>
              </a:rPr>
              <a:t>MKT CONDITIONS</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October–March = Statistically Best Months to Trade</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The 6-month window of October through March is described as the best trading period of the year — highest volatility, highest volume, most money made. May–September tends to be slower.</a:t>
            </a:r>
            <a:endParaRPr lang="en-US" sz="1350" dirty="0"/>
          </a:p>
        </p:txBody>
      </p:sp>
      <p:sp>
        <p:nvSpPr>
          <p:cNvPr id="16" name="Shape 14"/>
          <p:cNvSpPr/>
          <p:nvPr/>
        </p:nvSpPr>
        <p:spPr>
          <a:xfrm>
            <a:off x="256032" y="2743200"/>
            <a:ext cx="45720" cy="777240"/>
          </a:xfrm>
          <a:prstGeom prst="rect">
            <a:avLst/>
          </a:prstGeom>
          <a:solidFill>
            <a:srgbClr val="A855F7"/>
          </a:solidFill>
          <a:ln w="12700">
            <a:solidFill>
              <a:srgbClr val="A855F7"/>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"My best months of the year statistically are October, November, December, January, February, March — the next six months are big."</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A855F7"/>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Statistical tendency, not a guarantee. Hot catalysts can produce excellent conditions in any month. But seasonal pattern suggests increasing focus in Oct–Mar.</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4B8A6"/>
          </a:solidFill>
          <a:ln w="12700">
            <a:solidFill>
              <a:srgbClr val="14B8A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TIMING-003</a:t>
            </a:r>
            <a:endParaRPr lang="en-US" sz="1000" dirty="0"/>
          </a:p>
        </p:txBody>
      </p:sp>
      <p:sp>
        <p:nvSpPr>
          <p:cNvPr id="4" name="Shape 2"/>
          <p:cNvSpPr/>
          <p:nvPr/>
        </p:nvSpPr>
        <p:spPr>
          <a:xfrm>
            <a:off x="256032" y="475488"/>
            <a:ext cx="1417320" cy="256032"/>
          </a:xfrm>
          <a:prstGeom prst="roundRect">
            <a:avLst>
              <a:gd name="adj" fmla="val 17857"/>
            </a:avLst>
          </a:prstGeom>
          <a:solidFill>
            <a:srgbClr val="14B8A6">
              <a:alpha val="20000"/>
            </a:srgbClr>
          </a:solidFill>
          <a:ln w="19050">
            <a:solidFill>
              <a:srgbClr val="14B8A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4B8A6"/>
                </a:solidFill>
              </a:rPr>
              <a:t>TIMING</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Midday 11am–2pm = Dead Zone — Reduce or Stop</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The midday period is consistently the slowest window. Volume drops, spreads widen, price action becomes choppy. Forcing trades during this window historically produces losses or minimal gains.</a:t>
            </a:r>
            <a:endParaRPr lang="en-US" sz="1350" dirty="0"/>
          </a:p>
        </p:txBody>
      </p:sp>
      <p:sp>
        <p:nvSpPr>
          <p:cNvPr id="16" name="Shape 14"/>
          <p:cNvSpPr/>
          <p:nvPr/>
        </p:nvSpPr>
        <p:spPr>
          <a:xfrm>
            <a:off x="256032" y="2743200"/>
            <a:ext cx="45720" cy="777240"/>
          </a:xfrm>
          <a:prstGeom prst="rect">
            <a:avLst/>
          </a:prstGeom>
          <a:solidFill>
            <a:srgbClr val="14B8A6"/>
          </a:solidFill>
          <a:ln w="12700">
            <a:solidFill>
              <a:srgbClr val="14B8A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"Then midday it might be a little slow." [steps away from screens]</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4B8A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Breaking news can create midday momentum at any time. But in the absence of fresh catalysts between 11am–2pm, the correct default is to walk away.</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4B8A6"/>
          </a:solidFill>
          <a:ln w="12700">
            <a:solidFill>
              <a:srgbClr val="14B8A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TIMING-005</a:t>
            </a:r>
            <a:endParaRPr lang="en-US" sz="1000" dirty="0"/>
          </a:p>
        </p:txBody>
      </p:sp>
      <p:sp>
        <p:nvSpPr>
          <p:cNvPr id="4" name="Shape 2"/>
          <p:cNvSpPr/>
          <p:nvPr/>
        </p:nvSpPr>
        <p:spPr>
          <a:xfrm>
            <a:off x="256032" y="475488"/>
            <a:ext cx="1417320" cy="256032"/>
          </a:xfrm>
          <a:prstGeom prst="roundRect">
            <a:avLst>
              <a:gd name="adj" fmla="val 17857"/>
            </a:avLst>
          </a:prstGeom>
          <a:solidFill>
            <a:srgbClr val="14B8A6">
              <a:alpha val="20000"/>
            </a:srgbClr>
          </a:solidFill>
          <a:ln w="19050">
            <a:solidFill>
              <a:srgbClr val="14B8A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4B8A6"/>
                </a:solidFill>
              </a:rPr>
              <a:t>TIMING</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F59E0B"/>
          </a:solidFill>
          <a:ln w="12700">
            <a:solidFill>
              <a:srgbClr val="F59E0B"/>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Preferred Active Session: ~2–3 Hours Then Stop</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Ross explicitly prefers to trade for approximately 2–3 hours in the morning and then stop. This is both a lifestyle choice and a performance insight — best risk-adjusted returns come from the morning session.</a:t>
            </a:r>
            <a:endParaRPr lang="en-US" sz="1350" dirty="0"/>
          </a:p>
        </p:txBody>
      </p:sp>
      <p:sp>
        <p:nvSpPr>
          <p:cNvPr id="16" name="Shape 14"/>
          <p:cNvSpPr/>
          <p:nvPr/>
        </p:nvSpPr>
        <p:spPr>
          <a:xfrm>
            <a:off x="256032" y="2743200"/>
            <a:ext cx="45720" cy="777240"/>
          </a:xfrm>
          <a:prstGeom prst="rect">
            <a:avLst/>
          </a:prstGeom>
          <a:solidFill>
            <a:srgbClr val="14B8A6"/>
          </a:solidFill>
          <a:ln w="12700">
            <a:solidFill>
              <a:srgbClr val="14B8A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 got into trading because I wanted freedom. I wanted time. I wanted to choose how I spent my days."</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4B8A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On monster hot days, the session extends until the 50%/30% giveback stop is triggered. The 2–3 hour default applies in the absence of exceptional conditions.</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1E38"/>
        </a:solidFill>
      </p:bgPr>
    </p:bg>
    <p:spTree>
      <p:nvGrpSpPr>
        <p:cNvPr id="1" name=""/>
        <p:cNvGrpSpPr/>
        <p:nvPr/>
      </p:nvGrpSpPr>
      <p:grpSpPr>
        <a:xfrm>
          <a:off x="0" y="0"/>
          <a:ext cx="0" cy="0"/>
          <a:chOff x="0" y="0"/>
          <a:chExt cx="0" cy="0"/>
        </a:xfrm>
      </p:grpSpPr>
      <p:sp>
        <p:nvSpPr>
          <p:cNvPr id="2" name="Text 0"/>
          <p:cNvSpPr/>
          <p:nvPr/>
        </p:nvSpPr>
        <p:spPr>
          <a:xfrm>
            <a:off x="0" y="365760"/>
            <a:ext cx="9144000" cy="3200400"/>
          </a:xfrm>
          <a:prstGeom prst="rect">
            <a:avLst/>
          </a:prstGeom>
          <a:noFill/>
          <a:ln/>
        </p:spPr>
        <p:txBody>
          <a:bodyPr wrap="square" rtlCol="0" anchor="ctr"/>
          <a:lstStyle/>
          <a:p>
            <a:pPr algn="ctr" indent="0" marL="0">
              <a:buNone/>
            </a:pPr>
            <a:r>
              <a:rPr lang="en-US" sz="22000" b="1" dirty="0">
                <a:solidFill>
                  <a:srgbClr val="A855F7">
                    <a:alpha val="15000"/>
                  </a:srgbClr>
                </a:solidFill>
                <a:latin typeface="Calibri" pitchFamily="34" charset="0"/>
                <a:ea typeface="Calibri" pitchFamily="34" charset="-122"/>
                <a:cs typeface="Calibri" pitchFamily="34" charset="-120"/>
              </a:rPr>
              <a:t>3</a:t>
            </a:r>
            <a:endParaRPr lang="en-US" sz="22000" dirty="0"/>
          </a:p>
        </p:txBody>
      </p:sp>
      <p:sp>
        <p:nvSpPr>
          <p:cNvPr id="3" name="Text 1"/>
          <p:cNvSpPr/>
          <p:nvPr/>
        </p:nvSpPr>
        <p:spPr>
          <a:xfrm>
            <a:off x="548640" y="1463040"/>
            <a:ext cx="8046720" cy="731520"/>
          </a:xfrm>
          <a:prstGeom prst="rect">
            <a:avLst/>
          </a:prstGeom>
          <a:noFill/>
          <a:ln/>
        </p:spPr>
        <p:txBody>
          <a:bodyPr wrap="square" rtlCol="0" anchor="ctr"/>
          <a:lstStyle/>
          <a:p>
            <a:pPr algn="ctr" indent="0" marL="0">
              <a:buNone/>
            </a:pPr>
            <a:r>
              <a:rPr lang="en-US" sz="3600" b="1" spc="800" kern="0" dirty="0">
                <a:solidFill>
                  <a:srgbClr val="A855F7"/>
                </a:solidFill>
                <a:latin typeface="Calibri" pitchFamily="34" charset="0"/>
                <a:ea typeface="Calibri" pitchFamily="34" charset="-122"/>
                <a:cs typeface="Calibri" pitchFamily="34" charset="-120"/>
              </a:rPr>
              <a:t>CONFIDENCE 3</a:t>
            </a:r>
            <a:endParaRPr lang="en-US" sz="3600" dirty="0"/>
          </a:p>
        </p:txBody>
      </p:sp>
      <p:sp>
        <p:nvSpPr>
          <p:cNvPr id="4" name="Text 2"/>
          <p:cNvSpPr/>
          <p:nvPr/>
        </p:nvSpPr>
        <p:spPr>
          <a:xfrm>
            <a:off x="1371600" y="2377440"/>
            <a:ext cx="6400800" cy="548640"/>
          </a:xfrm>
          <a:prstGeom prst="rect">
            <a:avLst/>
          </a:prstGeom>
          <a:noFill/>
          <a:ln/>
        </p:spPr>
        <p:txBody>
          <a:bodyPr wrap="square"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CONFIDENCE 3  —  Strongly implied through consistent behavior. Treat as hypothesis.</a:t>
            </a:r>
            <a:endParaRPr lang="en-US" sz="1300" dirty="0"/>
          </a:p>
        </p:txBody>
      </p:sp>
      <p:sp>
        <p:nvSpPr>
          <p:cNvPr id="5" name="Text 3"/>
          <p:cNvSpPr/>
          <p:nvPr/>
        </p:nvSpPr>
        <p:spPr>
          <a:xfrm>
            <a:off x="1371600" y="3200400"/>
            <a:ext cx="6400800" cy="365760"/>
          </a:xfrm>
          <a:prstGeom prst="rect">
            <a:avLst/>
          </a:prstGeom>
          <a:noFill/>
          <a:ln/>
        </p:spPr>
        <p:txBody>
          <a:bodyPr wrap="square"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1 rule</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4B8A6"/>
          </a:solidFill>
          <a:ln w="12700">
            <a:solidFill>
              <a:srgbClr val="14B8A6"/>
            </a:solidFill>
            <a:prstDash val="solid"/>
          </a:ln>
        </p:spPr>
      </p:sp>
      <p:sp>
        <p:nvSpPr>
          <p:cNvPr id="3" name="Text 1"/>
          <p:cNvSpPr/>
          <p:nvPr/>
        </p:nvSpPr>
        <p:spPr>
          <a:xfrm>
            <a:off x="256032" y="201168"/>
            <a:ext cx="13716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TIMING-006</a:t>
            </a:r>
            <a:endParaRPr lang="en-US" sz="1000" dirty="0"/>
          </a:p>
        </p:txBody>
      </p:sp>
      <p:sp>
        <p:nvSpPr>
          <p:cNvPr id="4" name="Shape 2"/>
          <p:cNvSpPr/>
          <p:nvPr/>
        </p:nvSpPr>
        <p:spPr>
          <a:xfrm>
            <a:off x="256032" y="475488"/>
            <a:ext cx="1417320" cy="256032"/>
          </a:xfrm>
          <a:prstGeom prst="roundRect">
            <a:avLst>
              <a:gd name="adj" fmla="val 17857"/>
            </a:avLst>
          </a:prstGeom>
          <a:solidFill>
            <a:srgbClr val="14B8A6">
              <a:alpha val="20000"/>
            </a:srgbClr>
          </a:solidFill>
          <a:ln w="19050">
            <a:solidFill>
              <a:srgbClr val="14B8A6"/>
            </a:solidFill>
            <a:prstDash val="solid"/>
          </a:ln>
        </p:spPr>
      </p:sp>
      <p:sp>
        <p:nvSpPr>
          <p:cNvPr id="5" name="Text 3"/>
          <p:cNvSpPr/>
          <p:nvPr/>
        </p:nvSpPr>
        <p:spPr>
          <a:xfrm>
            <a:off x="256032" y="475488"/>
            <a:ext cx="1417320" cy="256032"/>
          </a:xfrm>
          <a:prstGeom prst="rect">
            <a:avLst/>
          </a:prstGeom>
          <a:noFill/>
          <a:ln/>
        </p:spPr>
        <p:txBody>
          <a:bodyPr wrap="square" lIns="0" tIns="0" rIns="0" bIns="0" rtlCol="0" anchor="ctr"/>
          <a:lstStyle/>
          <a:p>
            <a:pPr algn="ctr" indent="0" marL="0">
              <a:buNone/>
            </a:pPr>
            <a:r>
              <a:rPr lang="en-US" sz="800" b="1" dirty="0">
                <a:solidFill>
                  <a:srgbClr val="14B8A6"/>
                </a:solidFill>
              </a:rPr>
              <a:t>TIMING</a:t>
            </a:r>
            <a:endParaRPr lang="en-US" sz="800" dirty="0"/>
          </a:p>
        </p:txBody>
      </p:sp>
      <p:sp>
        <p:nvSpPr>
          <p:cNvPr id="6" name="Shape 4"/>
          <p:cNvSpPr/>
          <p:nvPr/>
        </p:nvSpPr>
        <p:spPr>
          <a:xfrm>
            <a:off x="1755648" y="475488"/>
            <a:ext cx="1188720" cy="256032"/>
          </a:xfrm>
          <a:prstGeom prst="roundRect">
            <a:avLst>
              <a:gd name="adj" fmla="val 17857"/>
            </a:avLst>
          </a:prstGeom>
          <a:solidFill>
            <a:srgbClr val="64748B">
              <a:alpha val="20000"/>
            </a:srgbClr>
          </a:solidFill>
          <a:ln w="19050">
            <a:solidFill>
              <a:srgbClr val="64748B"/>
            </a:solidFill>
            <a:prstDash val="solid"/>
          </a:ln>
        </p:spPr>
      </p:sp>
      <p:sp>
        <p:nvSpPr>
          <p:cNvPr id="7" name="Text 5"/>
          <p:cNvSpPr/>
          <p:nvPr/>
        </p:nvSpPr>
        <p:spPr>
          <a:xfrm>
            <a:off x="1755648" y="475488"/>
            <a:ext cx="1188720" cy="256032"/>
          </a:xfrm>
          <a:prstGeom prst="rect">
            <a:avLst/>
          </a:prstGeom>
          <a:noFill/>
          <a:ln/>
        </p:spPr>
        <p:txBody>
          <a:bodyPr wrap="square" lIns="0" tIns="0" rIns="0" bIns="0" rtlCol="0" anchor="ctr"/>
          <a:lstStyle/>
          <a:p>
            <a:pPr algn="ctr" indent="0" marL="0">
              <a:buNone/>
            </a:pPr>
            <a:r>
              <a:rPr lang="en-US" sz="800" b="1" dirty="0">
                <a:solidFill>
                  <a:srgbClr val="64748B"/>
                </a:solidFill>
              </a:rPr>
              <a:t>PROBABILISTIC</a:t>
            </a:r>
            <a:endParaRPr lang="en-US" sz="800" dirty="0"/>
          </a:p>
        </p:txBody>
      </p:sp>
      <p:sp>
        <p:nvSpPr>
          <p:cNvPr id="8" name="Text 6"/>
          <p:cNvSpPr/>
          <p:nvPr/>
        </p:nvSpPr>
        <p:spPr>
          <a:xfrm>
            <a:off x="6400800" y="201168"/>
            <a:ext cx="2468880" cy="228600"/>
          </a:xfrm>
          <a:prstGeom prst="rect">
            <a:avLst/>
          </a:prstGeom>
          <a:noFill/>
          <a:ln/>
        </p:spPr>
        <p:txBody>
          <a:bodyPr wrap="square" lIns="0" tIns="0" rIns="0" bIns="0"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CONFIDENCE</a:t>
            </a:r>
            <a:endParaRPr lang="en-US" sz="800" dirty="0"/>
          </a:p>
        </p:txBody>
      </p:sp>
      <p:sp>
        <p:nvSpPr>
          <p:cNvPr id="9" name="Shape 7"/>
          <p:cNvSpPr/>
          <p:nvPr/>
        </p:nvSpPr>
        <p:spPr>
          <a:xfrm>
            <a:off x="6629400" y="475488"/>
            <a:ext cx="201168" cy="201168"/>
          </a:xfrm>
          <a:prstGeom prst="ellipse">
            <a:avLst/>
          </a:prstGeom>
          <a:solidFill>
            <a:srgbClr val="F59E0B"/>
          </a:solidFill>
          <a:ln w="12700">
            <a:solidFill>
              <a:srgbClr val="F59E0B"/>
            </a:solidFill>
            <a:prstDash val="solid"/>
          </a:ln>
        </p:spPr>
      </p:sp>
      <p:sp>
        <p:nvSpPr>
          <p:cNvPr id="10" name="Shape 8"/>
          <p:cNvSpPr/>
          <p:nvPr/>
        </p:nvSpPr>
        <p:spPr>
          <a:xfrm>
            <a:off x="6903720" y="475488"/>
            <a:ext cx="201168" cy="201168"/>
          </a:xfrm>
          <a:prstGeom prst="ellipse">
            <a:avLst/>
          </a:prstGeom>
          <a:solidFill>
            <a:srgbClr val="F59E0B"/>
          </a:solidFill>
          <a:ln w="12700">
            <a:solidFill>
              <a:srgbClr val="F59E0B"/>
            </a:solidFill>
            <a:prstDash val="solid"/>
          </a:ln>
        </p:spPr>
      </p:sp>
      <p:sp>
        <p:nvSpPr>
          <p:cNvPr id="11" name="Shape 9"/>
          <p:cNvSpPr/>
          <p:nvPr/>
        </p:nvSpPr>
        <p:spPr>
          <a:xfrm>
            <a:off x="7178040" y="475488"/>
            <a:ext cx="201168" cy="201168"/>
          </a:xfrm>
          <a:prstGeom prst="ellipse">
            <a:avLst/>
          </a:prstGeom>
          <a:solidFill>
            <a:srgbClr val="F59E0B"/>
          </a:solidFill>
          <a:ln w="12700">
            <a:solidFill>
              <a:srgbClr val="F59E0B"/>
            </a:solidFill>
            <a:prstDash val="solid"/>
          </a:ln>
        </p:spPr>
      </p:sp>
      <p:sp>
        <p:nvSpPr>
          <p:cNvPr id="12" name="Shape 10"/>
          <p:cNvSpPr/>
          <p:nvPr/>
        </p:nvSpPr>
        <p:spPr>
          <a:xfrm>
            <a:off x="7452360" y="475488"/>
            <a:ext cx="201168" cy="201168"/>
          </a:xfrm>
          <a:prstGeom prst="ellipse">
            <a:avLst/>
          </a:prstGeom>
          <a:solidFill>
            <a:srgbClr val="1E3A5F"/>
          </a:solidFill>
          <a:ln w="12700">
            <a:solidFill>
              <a:srgbClr val="334155"/>
            </a:solidFill>
            <a:prstDash val="solid"/>
          </a:ln>
        </p:spPr>
      </p:sp>
      <p:sp>
        <p:nvSpPr>
          <p:cNvPr id="13" name="Shape 11"/>
          <p:cNvSpPr/>
          <p:nvPr/>
        </p:nvSpPr>
        <p:spPr>
          <a:xfrm>
            <a:off x="7726680" y="475488"/>
            <a:ext cx="201168" cy="201168"/>
          </a:xfrm>
          <a:prstGeom prst="ellipse">
            <a:avLst/>
          </a:prstGeom>
          <a:solidFill>
            <a:srgbClr val="1E3A5F"/>
          </a:solidFill>
          <a:ln w="12700">
            <a:solidFill>
              <a:srgbClr val="334155"/>
            </a:solidFill>
            <a:prstDash val="solid"/>
          </a:ln>
        </p:spPr>
      </p:sp>
      <p:sp>
        <p:nvSpPr>
          <p:cNvPr id="14" name="Text 12"/>
          <p:cNvSpPr/>
          <p:nvPr/>
        </p:nvSpPr>
        <p:spPr>
          <a:xfrm>
            <a:off x="256032" y="868680"/>
            <a:ext cx="8686800" cy="6858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Power Hour (3–4pm) and After-Hours = Secondary Opportunities</a:t>
            </a:r>
            <a:endParaRPr lang="en-US" sz="2400" dirty="0"/>
          </a:p>
        </p:txBody>
      </p:sp>
      <p:sp>
        <p:nvSpPr>
          <p:cNvPr id="15" name="Text 13"/>
          <p:cNvSpPr/>
          <p:nvPr/>
        </p:nvSpPr>
        <p:spPr>
          <a:xfrm>
            <a:off x="256032" y="1664208"/>
            <a:ext cx="8641080" cy="1005840"/>
          </a:xfrm>
          <a:prstGeom prst="rect">
            <a:avLst/>
          </a:prstGeom>
          <a:noFill/>
          <a:ln/>
        </p:spPr>
        <p:txBody>
          <a:bodyPr wrap="square" lIns="0" tIns="0" rIns="0" bIns="0" rtlCol="0" anchor="t"/>
          <a:lstStyle/>
          <a:p>
            <a:pPr indent="0" marL="0">
              <a:buNone/>
            </a:pPr>
            <a:r>
              <a:rPr lang="en-US" sz="1350" dirty="0">
                <a:solidFill>
                  <a:srgbClr val="CBD5E1"/>
                </a:solidFill>
                <a:latin typeface="Calibri" pitchFamily="34" charset="0"/>
                <a:ea typeface="Calibri" pitchFamily="34" charset="-122"/>
                <a:cs typeface="Calibri" pitchFamily="34" charset="-120"/>
              </a:rPr>
              <a:t>Power Hour and after-hours sometimes produce significant moves, especially on short squeeze setups or strong catalyst stocks. Secondary to the morning session — Ross monitors but rarely trades actively.</a:t>
            </a:r>
            <a:endParaRPr lang="en-US" sz="1350" dirty="0"/>
          </a:p>
        </p:txBody>
      </p:sp>
      <p:sp>
        <p:nvSpPr>
          <p:cNvPr id="16" name="Shape 14"/>
          <p:cNvSpPr/>
          <p:nvPr/>
        </p:nvSpPr>
        <p:spPr>
          <a:xfrm>
            <a:off x="256032" y="2743200"/>
            <a:ext cx="45720" cy="777240"/>
          </a:xfrm>
          <a:prstGeom prst="rect">
            <a:avLst/>
          </a:prstGeom>
          <a:solidFill>
            <a:srgbClr val="14B8A6"/>
          </a:solidFill>
          <a:ln w="12700">
            <a:solidFill>
              <a:srgbClr val="14B8A6"/>
            </a:solidFill>
            <a:prstDash val="solid"/>
          </a:ln>
        </p:spPr>
      </p:sp>
      <p:sp>
        <p:nvSpPr>
          <p:cNvPr id="17" name="Text 15"/>
          <p:cNvSpPr/>
          <p:nvPr/>
        </p:nvSpPr>
        <p:spPr>
          <a:xfrm>
            <a:off x="402336" y="2743200"/>
            <a:ext cx="8321040" cy="8229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"Going into Power Hour and after hours you did get some Power Hour moves."</a:t>
            </a:r>
            <a:endParaRPr lang="en-US" sz="1200" dirty="0"/>
          </a:p>
        </p:txBody>
      </p:sp>
      <p:sp>
        <p:nvSpPr>
          <p:cNvPr id="18" name="Shape 16"/>
          <p:cNvSpPr/>
          <p:nvPr/>
        </p:nvSpPr>
        <p:spPr>
          <a:xfrm>
            <a:off x="256032" y="3703320"/>
            <a:ext cx="8641080" cy="0"/>
          </a:xfrm>
          <a:prstGeom prst="line">
            <a:avLst/>
          </a:prstGeom>
          <a:noFill/>
          <a:ln w="12700">
            <a:solidFill>
              <a:srgbClr val="1E3A5F"/>
            </a:solidFill>
            <a:prstDash val="solid"/>
          </a:ln>
        </p:spPr>
      </p:sp>
      <p:sp>
        <p:nvSpPr>
          <p:cNvPr id="19" name="Text 17"/>
          <p:cNvSpPr/>
          <p:nvPr/>
        </p:nvSpPr>
        <p:spPr>
          <a:xfrm>
            <a:off x="256032" y="3767328"/>
            <a:ext cx="2286000" cy="201168"/>
          </a:xfrm>
          <a:prstGeom prst="rect">
            <a:avLst/>
          </a:prstGeom>
          <a:noFill/>
          <a:ln/>
        </p:spPr>
        <p:txBody>
          <a:bodyPr wrap="square" lIns="0" tIns="0" rIns="0" bIns="0" rtlCol="0" anchor="ctr"/>
          <a:lstStyle/>
          <a:p>
            <a:pPr indent="0" marL="0">
              <a:buNone/>
            </a:pPr>
            <a:r>
              <a:rPr lang="en-US" sz="800" b="1" dirty="0">
                <a:solidFill>
                  <a:srgbClr val="14B8A6"/>
                </a:solidFill>
                <a:latin typeface="Calibri" pitchFamily="34" charset="0"/>
                <a:ea typeface="Calibri" pitchFamily="34" charset="-122"/>
                <a:cs typeface="Calibri" pitchFamily="34" charset="-120"/>
              </a:rPr>
              <a:t>EDGE CASES / NUANCE</a:t>
            </a:r>
            <a:endParaRPr lang="en-US" sz="800" dirty="0"/>
          </a:p>
        </p:txBody>
      </p:sp>
      <p:sp>
        <p:nvSpPr>
          <p:cNvPr id="20" name="Text 18"/>
          <p:cNvSpPr/>
          <p:nvPr/>
        </p:nvSpPr>
        <p:spPr>
          <a:xfrm>
            <a:off x="256032" y="3986784"/>
            <a:ext cx="86410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After-hours moves (4–8pm) can set up continuation plays for the next morning. Pre-market (4–9:30am) can also produce significant moves on high-momentum stocks.</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w="12700">
            <a:solidFill>
              <a:srgbClr val="3B82F6"/>
            </a:solidFill>
            <a:prstDash val="solid"/>
          </a:ln>
        </p:spPr>
      </p:sp>
      <p:sp>
        <p:nvSpPr>
          <p:cNvPr id="3" name="Shape 1"/>
          <p:cNvSpPr/>
          <p:nvPr/>
        </p:nvSpPr>
        <p:spPr>
          <a:xfrm>
            <a:off x="0" y="5088636"/>
            <a:ext cx="9144000" cy="54864"/>
          </a:xfrm>
          <a:prstGeom prst="rect">
            <a:avLst/>
          </a:prstGeom>
          <a:solidFill>
            <a:srgbClr val="3B82F6"/>
          </a:solidFill>
          <a:ln w="12700">
            <a:solidFill>
              <a:srgbClr val="3B82F6"/>
            </a:solidFill>
            <a:prstDash val="solid"/>
          </a:ln>
        </p:spPr>
      </p:sp>
      <p:sp>
        <p:nvSpPr>
          <p:cNvPr id="4" name="Text 2"/>
          <p:cNvSpPr/>
          <p:nvPr/>
        </p:nvSpPr>
        <p:spPr>
          <a:xfrm>
            <a:off x="548640" y="1463040"/>
            <a:ext cx="8046720" cy="73152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35 Rules Reviewed</a:t>
            </a:r>
            <a:endParaRPr lang="en-US" sz="3600" dirty="0"/>
          </a:p>
        </p:txBody>
      </p:sp>
      <p:sp>
        <p:nvSpPr>
          <p:cNvPr id="5" name="Text 3"/>
          <p:cNvSpPr/>
          <p:nvPr/>
        </p:nvSpPr>
        <p:spPr>
          <a:xfrm>
            <a:off x="914400" y="2377440"/>
            <a:ext cx="7315200" cy="457200"/>
          </a:xfrm>
          <a:prstGeom prst="rect">
            <a:avLst/>
          </a:prstGeom>
          <a:noFill/>
          <a:ln/>
        </p:spPr>
        <p:txBody>
          <a:bodyPr wrap="square"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Next: Cross-check confidence scores against the ~1,800-video corpus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jTrader Strategy Rules Review</dc:title>
  <dc:subject>PptxGenJS Presentation</dc:subject>
  <dc:creator>PptxGenJS</dc:creator>
  <cp:lastModifiedBy>PptxGenJS</cp:lastModifiedBy>
  <cp:revision>1</cp:revision>
  <dcterms:created xsi:type="dcterms:W3CDTF">2026-03-25T17:33:45Z</dcterms:created>
  <dcterms:modified xsi:type="dcterms:W3CDTF">2026-03-25T17:33:45Z</dcterms:modified>
</cp:coreProperties>
</file>